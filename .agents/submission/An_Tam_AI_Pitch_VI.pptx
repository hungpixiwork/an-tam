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 Pitch một câu: An Tâm biến câu hỏi ‘Tôi có nên nghỉ việc đi học?’ thành một so sánh có thể kiểm tra: còn tiền sống bao lâu, mục tiêu nào bị lùi và cần chuẩn bị thêm gì. Người dùng vẫn quyết định.</a:t>
            </a:r>
          </a:p>
          <a:p>
            <a:r>
              <a:t>Cơ sở / trạng thái: Định vị dự thi Topic A; không tuyên bố đã có người dùng trả phí.</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 Linh là nhân vật minh họa, chưa phải kết quả phỏng vấn. Không hỏi cô ấy có thích thêm một bảng chi tiêu không. Hỏi: nếu bắt đầu tháng tới thì lúc tệ nhất còn bao nhiêu tháng an toàn; nếu chờ hoặc học bán thời gian, điều gì thay đổi? CFPB định nghĩa an toàn tài chính bằng khả năng chịu cú sốc và quyền tự do lựa chọn, chứ không chỉ số dư.</a:t>
            </a:r>
          </a:p>
          <a:p>
            <a:r>
              <a:t>Cơ sở / trạng thái: Tình huống giả định. CFPB là khung nhu cầu tham khảo; cần phỏng vấn người dùng Việt Nam để xác nhận mức độ đau.</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 Đây là định vị, không phải tuyên bố không ai có tính năng tương tự. Điểm cạnh tranh cần được chứng minh bằng trải nghiệm: từ một câu hỏi đến phương án, điều kiện để thực hiện và việc tiếp theo được phê duyệt. Không dùng ma trận dấu X vô căn cứ hay câu ‘đầu tiên trên thị trường’.</a:t>
            </a:r>
          </a:p>
          <a:p>
            <a:r>
              <a:t>Cơ sở / trạng thái: Trang tính năng chính thức của YNAB và ProjectionLab; chưa có nghiên cứu so sánh người dùng trực tiếp.</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 Có thể minh họa bằng phép tính tay: 84 triệu tiền dễ rút, chi thiết yếu 21 triệu/tháng, học 6 tháng không lương và học phí 120 triệu thì khoảng thiếu sơ bộ là 162 triệu. Nếu vẫn kiếm 14 triệu/tháng, khoảng thiếu còn 78 triệu. Đây là ví dụ giải thích, không phải kết quả engine; ứng dụng còn xét quỹ dự phòng, mục tiêu và giả định khác.</a:t>
            </a:r>
          </a:p>
          <a:p>
            <a:r>
              <a:t>Cơ sở / trạng thái: Engine hiện có: shared/engine/lifeChoice.ts; ví dụ số là giả định trình bày.</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 ‘Phiếu quyết định’ là cách trình bày một phương án gồm chi phí, quỹ còn lại, mục tiêu bị ảnh hưởng, kịch bản xấu và điều kiện để tiến tới. An Tâm có thể chấm điểm khả thi, nhưng điểm số không phải nhân vật chính. Các kịch bản là phép thử độ nhạy, không phải dự báo tương lai. Không nói chắc chắn người dùng sẽ tăng lương sau khi học.</a:t>
            </a:r>
          </a:p>
          <a:p>
            <a:r>
              <a:t>Cơ sở / trạng thái: shared/engine/lifeChoice.ts có verdict, funding.shortfall, monthsAfter và choiceConditions; kiểm thử nghiệp vụ trước khi dùng số trong demo.</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 Điểm mới là vòng lặp: đánh giá một quyết định, chỉ ra điều kiện làm kết quả đổi chiều, thử tình huống lương và tài sản xấu đi cùng lúc, rồi đề xuất việc cụ thể. ILO đo mức phơi nhiễm nghề với GenAI, không dự đoán một người sẽ mất việc; dùng dữ liệu này như giả định bất định có thể xem và sửa. Không gọi đây là công nghệ ‘đầu tiên’ hay độc quyền.</a:t>
            </a:r>
          </a:p>
          <a:p>
            <a:r>
              <a:t>Cơ sở / trạng thái: shared/engine/lifeChoice.ts, concentration.ts, humanCapital.ts và các action trong shared/agent/planner.ts; ILO 2025 chỉ tham khảo phơi nhiễm nghề.</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 Đây là cách bám chủ đề AI as a Financial Participant: AI tham gia vào chuỗi ra quyết định có dấu vết. Trong code, Workers AI chỉ chạy khi được cấu hình; nếu chậm hoặc lỗi thì có fallback. LLM không tự tính số tiền và không tự duyệt thao tác. Trên sân khấu phải cho thấy timeline và một hành động pending thật.</a:t>
            </a:r>
          </a:p>
          <a:p>
            <a:r>
              <a:t>Cơ sở / trạng thái: worker/agents/llm.ts, runner.ts, worker/routes/agent.ts, worker/agents/executor.ts; binding AI và demo end-to-end cần kiểm tra ở môi trường nộp.</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 Không gọi code hoặc test là bằng chứng đã có khách hàng. Mở demo bằng tài khoản mẫu, dùng cùng một quyết định, rồi cho giám khảo đổi một giả định và thử phê duyệt hai lần. Nếu AI binding không sẵn sàng, trình bày rõ fallback theo luật thay vì gọi đó là LLM đang chạy.</a:t>
            </a:r>
          </a:p>
          <a:p>
            <a:r>
              <a:t>Cơ sở / trạng thái: Repo hiện có các module nêu trên; production và khả năng lặp lại demo chưa được tài liệu này xác nhận.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 Mã nguồn đã có gói Free/Plus/Bank và luồng nâng gói qua webhook, nhưng không suy ra đã có doanh thu. Kênh trực tiếp phải đo tỷ lệ trả phí, chi phí thu hút và biên đóng góp trên mỗi người dùng. Bán cho ngân hàng là đường dài: bắt đầu bằng pilot nhỏ với dữ liệu có quyền sử dụng, bảo mật và quy trình pháp lý; chỉ đàm phán phí triển khai + phí theo người dùng hoạt động khi đối tác thấy kết quả. Không tuyên bố giảm nợ xấu hay tăng giữ chân trước khi có số đo.</a:t>
            </a:r>
          </a:p>
          <a:p>
            <a:r>
              <a:t>Cơ sở / trạng thái: shared/plans.ts có giá Plus 49.000đ; worker/lib/plans.ts có logic thanh toán. Chưa có bằng chứng hợp đồng hay doanh thu trong hồ sơ này.</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trình bày: Kết: An Tâm không quyết định thay người dùng. Chúng tôi giúp họ thấy cái giá của lựa chọn, rủi ro khi mọi thứ xấu đi cùng lúc và điều kiện để bước tiếp. Trước hạn nộp 20/10, bài thi cần một demo lặp lại được và một bộ kiểm tra bảo mật, không cần dự phóng thị trường không có căn cứ.</a:t>
            </a:r>
          </a:p>
          <a:p>
            <a:r>
              <a:t>Cơ sở / trạng thái: Các bước pilot là kế hoạch, không phải kết quả đã đạt. Hạn International Track theo IEEE CIS Shenzhen.</a:t>
            </a:r>
          </a:p>
          <a:p>
            <a:r>
              <a:t>Contest scope: https://r10.ieee.org/shenzhen-cis/blog/2026/06/17/2026-shenzhen-international-fintech-competition-international-track/</a:t>
            </a:r>
          </a:p>
          <a:p>
            <a:r>
              <a:t>Contest theme: https://www.stcn.com/article/detail/4168818.html</a:t>
            </a:r>
          </a:p>
          <a:p>
            <a:r>
              <a:t>User need: https://www.consumerfinance.gov/consumer-tools/financial-well-being/about/</a:t>
            </a:r>
          </a:p>
          <a:p>
            <a:r>
              <a:t>Career uncertainty: https://www.ilo.org/publications/generative-ai-and-jobs-2025-update</a:t>
            </a:r>
          </a:p>
          <a:p>
            <a:r>
              <a:t>Competitor: https://www.ynab.com/features/goal-tracking</a:t>
            </a:r>
          </a:p>
          <a:p>
            <a:r>
              <a:t>Competitor: https://projectionlab.com/blog/compare-mode-upgrades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1069848"/>
            <a:ext cx="10881360" cy="1920240"/>
          </a:xfrm>
          <a:prstGeom prst="rect">
            <a:avLst/>
          </a:prstGeom>
          <a:noFill/>
        </p:spPr>
        <p:txBody>
          <a:bodyPr wrap="square" lIns="0" rIns="0" tIns="0" bIns="0">
            <a:spAutoFit/>
          </a:bodyPr>
          <a:lstStyle/>
          <a:p>
            <a:pPr algn="l">
              <a:defRPr sz="3800" b="1">
                <a:solidFill>
                  <a:srgbClr val="172B4D"/>
                </a:solidFill>
                <a:latin typeface="Aptos"/>
              </a:defRPr>
            </a:pPr>
            <a:r>
              <a:t>Trước khi nghỉ việc, biết mình có kham nổi.</a:t>
            </a:r>
          </a:p>
        </p:txBody>
      </p:sp>
      <p:sp>
        <p:nvSpPr>
          <p:cNvPr id="5" name="TextBox 4"/>
          <p:cNvSpPr txBox="1"/>
          <p:nvPr/>
        </p:nvSpPr>
        <p:spPr>
          <a:xfrm>
            <a:off x="658368" y="3099816"/>
            <a:ext cx="10515600" cy="1005840"/>
          </a:xfrm>
          <a:prstGeom prst="rect">
            <a:avLst/>
          </a:prstGeom>
          <a:noFill/>
        </p:spPr>
        <p:txBody>
          <a:bodyPr wrap="square" lIns="0" rIns="0" tIns="0" bIns="0">
            <a:spAutoFit/>
          </a:bodyPr>
          <a:lstStyle/>
          <a:p>
            <a:pPr algn="l">
              <a:defRPr sz="2300" b="0">
                <a:solidFill>
                  <a:srgbClr val="17253A"/>
                </a:solidFill>
                <a:latin typeface="Aptos"/>
              </a:defRPr>
            </a:pPr>
            <a:r>
              <a:t>An Tâm AI giúp người trẻ thử một quyết định lớn bằng tiền, nghề và mục tiêu của chính họ.</a:t>
            </a:r>
          </a:p>
        </p:txBody>
      </p:sp>
      <p:sp>
        <p:nvSpPr>
          <p:cNvPr id="6" name="TextBox 5"/>
          <p:cNvSpPr txBox="1"/>
          <p:nvPr/>
        </p:nvSpPr>
        <p:spPr>
          <a:xfrm>
            <a:off x="694944" y="4901184"/>
            <a:ext cx="10424160" cy="301752"/>
          </a:xfrm>
          <a:prstGeom prst="rect">
            <a:avLst/>
          </a:prstGeom>
          <a:noFill/>
        </p:spPr>
        <p:txBody>
          <a:bodyPr wrap="square" lIns="0" rIns="0" tIns="0" bIns="0">
            <a:spAutoFit/>
          </a:bodyPr>
          <a:lstStyle/>
          <a:p>
            <a:pPr algn="l">
              <a:defRPr sz="1500" b="1">
                <a:solidFill>
                  <a:srgbClr val="087E83"/>
                </a:solidFill>
                <a:latin typeface="Aptos"/>
              </a:defRPr>
            </a:pPr>
            <a:r>
              <a:t>Hỏi bằng lời thường.</a:t>
            </a:r>
          </a:p>
        </p:txBody>
      </p:sp>
      <p:sp>
        <p:nvSpPr>
          <p:cNvPr id="7" name="TextBox 6"/>
          <p:cNvSpPr txBox="1"/>
          <p:nvPr/>
        </p:nvSpPr>
        <p:spPr>
          <a:xfrm>
            <a:off x="694944" y="5266944"/>
            <a:ext cx="10424160" cy="301752"/>
          </a:xfrm>
          <a:prstGeom prst="rect">
            <a:avLst/>
          </a:prstGeom>
          <a:noFill/>
        </p:spPr>
        <p:txBody>
          <a:bodyPr wrap="square" lIns="0" rIns="0" tIns="0" bIns="0">
            <a:spAutoFit/>
          </a:bodyPr>
          <a:lstStyle/>
          <a:p>
            <a:pPr algn="l">
              <a:defRPr sz="1500" b="1">
                <a:solidFill>
                  <a:srgbClr val="087E83"/>
                </a:solidFill>
                <a:latin typeface="Aptos"/>
              </a:defRPr>
            </a:pPr>
            <a:r>
              <a:t>Thấy cái giá của từng phương án.</a:t>
            </a:r>
          </a:p>
        </p:txBody>
      </p:sp>
      <p:sp>
        <p:nvSpPr>
          <p:cNvPr id="8" name="TextBox 7"/>
          <p:cNvSpPr txBox="1"/>
          <p:nvPr/>
        </p:nvSpPr>
        <p:spPr>
          <a:xfrm>
            <a:off x="694944" y="5632704"/>
            <a:ext cx="10424160" cy="301752"/>
          </a:xfrm>
          <a:prstGeom prst="rect">
            <a:avLst/>
          </a:prstGeom>
          <a:noFill/>
        </p:spPr>
        <p:txBody>
          <a:bodyPr wrap="square" lIns="0" rIns="0" tIns="0" bIns="0">
            <a:spAutoFit/>
          </a:bodyPr>
          <a:lstStyle/>
          <a:p>
            <a:pPr algn="l">
              <a:defRPr sz="1500" b="1">
                <a:solidFill>
                  <a:srgbClr val="087E83"/>
                </a:solidFill>
                <a:latin typeface="Aptos"/>
              </a:defRPr>
            </a:pPr>
            <a:r>
              <a:t>Tự duyệt bước tiếp theo.</a:t>
            </a:r>
          </a:p>
        </p:txBody>
      </p:sp>
      <p:sp>
        <p:nvSpPr>
          <p:cNvPr id="9" name="TextBox 8"/>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Bản pitch làm việc · 29/09/2026 · Số liệu người dùng là tình huống minh họa, chưa phải nghiên cứu khách hàng</a:t>
            </a:r>
          </a:p>
        </p:txBody>
      </p:sp>
      <p:sp>
        <p:nvSpPr>
          <p:cNvPr id="10" name="TextBox 9"/>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Linh muốn nghỉ việc để học. Khi nào cô ấy làm được?</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Một quyết định; bốn thứ phải cân cùng lúc.</a:t>
            </a:r>
          </a:p>
        </p:txBody>
      </p:sp>
      <p:sp>
        <p:nvSpPr>
          <p:cNvPr id="6" name="Rectangle 5"/>
          <p:cNvSpPr/>
          <p:nvPr/>
        </p:nvSpPr>
        <p:spPr>
          <a:xfrm>
            <a:off x="667512" y="3383279"/>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64408"/>
            <a:ext cx="10332720" cy="685800"/>
          </a:xfrm>
          <a:prstGeom prst="rect">
            <a:avLst/>
          </a:prstGeom>
          <a:noFill/>
        </p:spPr>
        <p:txBody>
          <a:bodyPr wrap="square" lIns="0" rIns="0" tIns="0" bIns="0">
            <a:spAutoFit/>
          </a:bodyPr>
          <a:lstStyle/>
          <a:p>
            <a:pPr algn="l">
              <a:defRPr sz="1900" b="0">
                <a:solidFill>
                  <a:srgbClr val="17253A"/>
                </a:solidFill>
                <a:latin typeface="Aptos"/>
              </a:defRPr>
            </a:pPr>
            <a:r>
              <a:t>Học phí và chi phí sống trong thời gian không lương.</a:t>
            </a:r>
          </a:p>
        </p:txBody>
      </p:sp>
      <p:sp>
        <p:nvSpPr>
          <p:cNvPr id="8" name="Rectangle 7"/>
          <p:cNvSpPr/>
          <p:nvPr/>
        </p:nvSpPr>
        <p:spPr>
          <a:xfrm>
            <a:off x="667512" y="4187952"/>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10332720" cy="685800"/>
          </a:xfrm>
          <a:prstGeom prst="rect">
            <a:avLst/>
          </a:prstGeom>
          <a:noFill/>
        </p:spPr>
        <p:txBody>
          <a:bodyPr wrap="square" lIns="0" rIns="0" tIns="0" bIns="0">
            <a:spAutoFit/>
          </a:bodyPr>
          <a:lstStyle/>
          <a:p>
            <a:pPr algn="l">
              <a:defRPr sz="1900" b="0">
                <a:solidFill>
                  <a:srgbClr val="17253A"/>
                </a:solidFill>
                <a:latin typeface="Aptos"/>
              </a:defRPr>
            </a:pPr>
            <a:r>
              <a:t>Quỹ dự phòng và mục tiêu mua nhà.</a:t>
            </a:r>
          </a:p>
        </p:txBody>
      </p:sp>
      <p:sp>
        <p:nvSpPr>
          <p:cNvPr id="10" name="Rectangle 9"/>
          <p:cNvSpPr/>
          <p:nvPr/>
        </p:nvSpPr>
        <p:spPr>
          <a:xfrm>
            <a:off x="667512" y="4992624"/>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73752"/>
            <a:ext cx="10332720" cy="685800"/>
          </a:xfrm>
          <a:prstGeom prst="rect">
            <a:avLst/>
          </a:prstGeom>
          <a:noFill/>
        </p:spPr>
        <p:txBody>
          <a:bodyPr wrap="square" lIns="0" rIns="0" tIns="0" bIns="0">
            <a:spAutoFit/>
          </a:bodyPr>
          <a:lstStyle/>
          <a:p>
            <a:pPr algn="l">
              <a:defRPr sz="1900" b="0">
                <a:solidFill>
                  <a:srgbClr val="17253A"/>
                </a:solidFill>
                <a:latin typeface="Aptos"/>
              </a:defRPr>
            </a:pPr>
            <a:r>
              <a:t>Tiền đầu tư cùng ngành với công việc hiện tại.</a:t>
            </a:r>
          </a:p>
        </p:txBody>
      </p:sp>
      <p:sp>
        <p:nvSpPr>
          <p:cNvPr id="12" name="TextBox 11"/>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Bản pitch làm việc · 29/09/2026 · Số liệu người dùng là tình huống minh họa, chưa phải nghiên cứu khách hàng</a:t>
            </a:r>
          </a:p>
        </p:txBody>
      </p:sp>
      <p:sp>
        <p:nvSpPr>
          <p:cNvPr id="13" name="TextBox 12"/>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Một quyết định đi qua ngân sách, mục tiêu và nghề.</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Ngân sách, kế hoạch dài hạn và nghề nghiệp thường được xem tách nhau.</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YNAB giúp lập ngân sách và mục tiêu.</a:t>
            </a:r>
          </a:p>
        </p:txBody>
      </p:sp>
      <p:sp>
        <p:nvSpPr>
          <p:cNvPr id="9" name="Rounded Rectangle 8"/>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1" name="TextBox 10"/>
          <p:cNvSpPr txBox="1"/>
          <p:nvPr/>
        </p:nvSpPr>
        <p:spPr>
          <a:xfrm>
            <a:off x="4617720"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ProjectionLab đã so sánh các kịch bản cuộc đời.</a:t>
            </a:r>
          </a:p>
        </p:txBody>
      </p:sp>
      <p:sp>
        <p:nvSpPr>
          <p:cNvPr id="12" name="Rounded Rectangle 11"/>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4" name="TextBox 13"/>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An Tâm tìm điều kiện để thực hiện lựa chọn khi tiền và nghề cùng gặp rủi ro.</a:t>
            </a:r>
          </a:p>
        </p:txBody>
      </p:sp>
      <p:sp>
        <p:nvSpPr>
          <p:cNvPr id="15" name="TextBox 14"/>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Bản pitch làm việc · 29/09/2026 · Số liệu người dùng là tình huống minh họa, chưa phải nghiên cứu khách hàng</a:t>
            </a:r>
          </a:p>
        </p:txBody>
      </p:sp>
      <p:sp>
        <p:nvSpPr>
          <p:cNvPr id="16" name="TextBox 15"/>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Đổi cách học, khoảng thiếu giảm từ 162 xuống 78 triệu.</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Ví dụ tính tay: 84 triệu tiền dùng được · chi 21 triệu/tháng · học phí 120 triệu · 6 tháng.</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3968496"/>
            <a:ext cx="3044952" cy="475488"/>
          </a:xfrm>
          <a:prstGeom prst="rect">
            <a:avLst/>
          </a:prstGeom>
          <a:noFill/>
        </p:spPr>
        <p:txBody>
          <a:bodyPr wrap="square" lIns="0" rIns="0" tIns="0" bIns="0">
            <a:spAutoFit/>
          </a:bodyPr>
          <a:lstStyle/>
          <a:p>
            <a:pPr algn="l">
              <a:defRPr sz="1600" b="0">
                <a:solidFill>
                  <a:srgbClr val="17253A"/>
                </a:solidFill>
                <a:latin typeface="Aptos"/>
              </a:defRPr>
            </a:pPr>
            <a:r>
              <a:t>Nghỉ việc 6 tháng</a:t>
            </a:r>
          </a:p>
        </p:txBody>
      </p:sp>
      <p:sp>
        <p:nvSpPr>
          <p:cNvPr id="9" name="TextBox 8"/>
          <p:cNvSpPr txBox="1"/>
          <p:nvPr/>
        </p:nvSpPr>
        <p:spPr>
          <a:xfrm>
            <a:off x="841247" y="4471416"/>
            <a:ext cx="3044952" cy="475488"/>
          </a:xfrm>
          <a:prstGeom prst="rect">
            <a:avLst/>
          </a:prstGeom>
          <a:noFill/>
        </p:spPr>
        <p:txBody>
          <a:bodyPr wrap="square" lIns="0" rIns="0" tIns="0" bIns="0">
            <a:spAutoFit/>
          </a:bodyPr>
          <a:lstStyle/>
          <a:p>
            <a:pPr algn="l">
              <a:defRPr sz="2900" b="1">
                <a:solidFill>
                  <a:srgbClr val="087E83"/>
                </a:solidFill>
                <a:latin typeface="Aptos"/>
              </a:defRPr>
            </a:pPr>
            <a:r>
              <a:t>162 triệu</a:t>
            </a:r>
          </a:p>
        </p:txBody>
      </p:sp>
      <p:sp>
        <p:nvSpPr>
          <p:cNvPr id="10" name="Rounded Rectangle 9"/>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2" name="TextBox 11"/>
          <p:cNvSpPr txBox="1"/>
          <p:nvPr/>
        </p:nvSpPr>
        <p:spPr>
          <a:xfrm>
            <a:off x="4617720" y="3968496"/>
            <a:ext cx="3044952" cy="475488"/>
          </a:xfrm>
          <a:prstGeom prst="rect">
            <a:avLst/>
          </a:prstGeom>
          <a:noFill/>
        </p:spPr>
        <p:txBody>
          <a:bodyPr wrap="square" lIns="0" rIns="0" tIns="0" bIns="0">
            <a:spAutoFit/>
          </a:bodyPr>
          <a:lstStyle/>
          <a:p>
            <a:pPr algn="l">
              <a:defRPr sz="1600" b="0">
                <a:solidFill>
                  <a:srgbClr val="17253A"/>
                </a:solidFill>
                <a:latin typeface="Aptos"/>
              </a:defRPr>
            </a:pPr>
            <a:r>
              <a:t>Giữ thu nhập 14 triệu/tháng</a:t>
            </a:r>
          </a:p>
        </p:txBody>
      </p:sp>
      <p:sp>
        <p:nvSpPr>
          <p:cNvPr id="13" name="TextBox 12"/>
          <p:cNvSpPr txBox="1"/>
          <p:nvPr/>
        </p:nvSpPr>
        <p:spPr>
          <a:xfrm>
            <a:off x="4617720" y="4471416"/>
            <a:ext cx="3044952" cy="475488"/>
          </a:xfrm>
          <a:prstGeom prst="rect">
            <a:avLst/>
          </a:prstGeom>
          <a:noFill/>
        </p:spPr>
        <p:txBody>
          <a:bodyPr wrap="square" lIns="0" rIns="0" tIns="0" bIns="0">
            <a:spAutoFit/>
          </a:bodyPr>
          <a:lstStyle/>
          <a:p>
            <a:pPr algn="l">
              <a:defRPr sz="2900" b="1">
                <a:solidFill>
                  <a:srgbClr val="087E83"/>
                </a:solidFill>
                <a:latin typeface="Aptos"/>
              </a:defRPr>
            </a:pPr>
            <a:r>
              <a:t>78 triệu</a:t>
            </a:r>
          </a:p>
        </p:txBody>
      </p:sp>
      <p:sp>
        <p:nvSpPr>
          <p:cNvPr id="14" name="Rounded Rectangle 13"/>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6" name="TextBox 15"/>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An Tâm xét thêm quỹ an toàn, mục tiêu và cú sốc kép.</a:t>
            </a:r>
          </a:p>
        </p:txBody>
      </p:sp>
      <p:sp>
        <p:nvSpPr>
          <p:cNvPr id="17" name="TextBox 16"/>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Bản pitch làm việc · 29/09/2026 · Số liệu người dùng là tình huống minh họa, chưa phải nghiên cứu khách hàng</a:t>
            </a:r>
          </a:p>
        </p:txBody>
      </p:sp>
      <p:sp>
        <p:nvSpPr>
          <p:cNvPr id="18" name="TextBox 17"/>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Mỗi lựa chọn cần một ‘phiếu quyết định’.</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Từ cảnh báo mơ hồ thành điều kiện có thể hành động.</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‘Chưa đủ’ → khoảng thiếu và tháng chuẩn bị.</a:t>
            </a:r>
          </a:p>
        </p:txBody>
      </p:sp>
      <p:sp>
        <p:nvSpPr>
          <p:cNvPr id="9" name="Rounded Rectangle 8"/>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1" name="TextBox 10"/>
          <p:cNvSpPr txBox="1"/>
          <p:nvPr/>
        </p:nvSpPr>
        <p:spPr>
          <a:xfrm>
            <a:off x="4617720"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‘Có điều kiện’ → giữ quỹ an toàn, giảm chi, thêm thu nhập hoặc lùi ngày bắt đầu.</a:t>
            </a:r>
          </a:p>
        </p:txBody>
      </p:sp>
      <p:sp>
        <p:nvSpPr>
          <p:cNvPr id="12" name="Rounded Rectangle 11"/>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4" name="TextBox 13"/>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Mỗi thay đổi được thử lại ngay trên cùng phương án.</a:t>
            </a:r>
          </a:p>
        </p:txBody>
      </p:sp>
      <p:sp>
        <p:nvSpPr>
          <p:cNvPr id="15" name="TextBox 14"/>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Bản pitch làm việc · 29/09/2026 · Số liệu người dùng là tình huống minh họa, chưa phải nghiên cứu khách hàng</a:t>
            </a:r>
          </a:p>
        </p:txBody>
      </p:sp>
      <p:sp>
        <p:nvSpPr>
          <p:cNvPr id="16" name="TextBox 15"/>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Điểm mới: từ ‘chưa đủ’ đến một đường đi có thể thử.</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Ba cơ chế nối với nhau trên cùng một quyết định.</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Tính ngược: cần thêm bao nhiêu tiền hoặc mấy tháng chuẩn bị.</a:t>
            </a:r>
          </a:p>
        </p:txBody>
      </p:sp>
      <p:sp>
        <p:nvSpPr>
          <p:cNvPr id="9" name="Rounded Rectangle 8"/>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1" name="TextBox 10"/>
          <p:cNvSpPr txBox="1"/>
          <p:nvPr/>
        </p:nvSpPr>
        <p:spPr>
          <a:xfrm>
            <a:off x="4617720"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Thử sốc kép: mất lương trong lúc tài sản cùng ngành giảm giá.</a:t>
            </a:r>
          </a:p>
        </p:txBody>
      </p:sp>
      <p:sp>
        <p:nvSpPr>
          <p:cNvPr id="12" name="Rounded Rectangle 11"/>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4" name="TextBox 13"/>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Biến điều kiện thành việc; mọi thay đổi chờ người dùng duyệt.</a:t>
            </a:r>
          </a:p>
        </p:txBody>
      </p:sp>
      <p:sp>
        <p:nvSpPr>
          <p:cNvPr id="15" name="TextBox 14"/>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Bản pitch làm việc · 29/09/2026 · Số liệu người dùng là tình huống minh họa, chưa phải nghiên cứu khách hàng</a:t>
            </a:r>
          </a:p>
        </p:txBody>
      </p:sp>
      <p:sp>
        <p:nvSpPr>
          <p:cNvPr id="16" name="TextBox 15"/>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AI hiểu và sắp việc. Code tính tiền. Người dùng duyệt.</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Người dùng thấy AI đã hiểu gì, tính gì và định làm gì.</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Hiểu ‘tôi muốn nghỉ việc đi học’ và chọn phép tính phù hợp.</a:t>
            </a:r>
          </a:p>
        </p:txBody>
      </p:sp>
      <p:sp>
        <p:nvSpPr>
          <p:cNvPr id="9" name="Rounded Rectangle 8"/>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1" name="TextBox 10"/>
          <p:cNvSpPr txBox="1"/>
          <p:nvPr/>
        </p:nvSpPr>
        <p:spPr>
          <a:xfrm>
            <a:off x="4617720"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Engine trả kết quả cùng giả định; AI diễn đạt bằng lời dễ hiểu.</a:t>
            </a:r>
          </a:p>
        </p:txBody>
      </p:sp>
      <p:sp>
        <p:nvSpPr>
          <p:cNvPr id="12" name="Rounded Rectangle 11"/>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4" name="TextBox 13"/>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Tạo đề xuất; người dùng xem trước, duyệt hoặc từ chối.</a:t>
            </a:r>
          </a:p>
        </p:txBody>
      </p:sp>
      <p:sp>
        <p:nvSpPr>
          <p:cNvPr id="15" name="TextBox 14"/>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Bản pitch làm việc · 29/09/2026 · Số liệu người dùng là tình huống minh họa, chưa phải nghiên cứu khách hàng</a:t>
            </a:r>
          </a:p>
        </p:txBody>
      </p:sp>
      <p:sp>
        <p:nvSpPr>
          <p:cNvPr id="16" name="TextBox 15"/>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Engine và luồng duyệt đã có trong sản phẩm.</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Bằng chứng kỹ thuật mạnh nhất là đường đi từ câu hỏi tới kết quả có thể kiểm tra.</a:t>
            </a:r>
          </a:p>
        </p:txBody>
      </p:sp>
      <p:sp>
        <p:nvSpPr>
          <p:cNvPr id="6" name="Rectangle 5"/>
          <p:cNvSpPr/>
          <p:nvPr/>
        </p:nvSpPr>
        <p:spPr>
          <a:xfrm>
            <a:off x="667512" y="3383279"/>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64408"/>
            <a:ext cx="10332720" cy="685800"/>
          </a:xfrm>
          <a:prstGeom prst="rect">
            <a:avLst/>
          </a:prstGeom>
          <a:noFill/>
        </p:spPr>
        <p:txBody>
          <a:bodyPr wrap="square" lIns="0" rIns="0" tIns="0" bIns="0">
            <a:spAutoFit/>
          </a:bodyPr>
          <a:lstStyle/>
          <a:p>
            <a:pPr algn="l">
              <a:defRPr sz="1900" b="0">
                <a:solidFill>
                  <a:srgbClr val="17253A"/>
                </a:solidFill>
                <a:latin typeface="Aptos"/>
              </a:defRPr>
            </a:pPr>
            <a:r>
              <a:t>Đã có mô phỏng lựa chọn, sức kiếm tiền và rủi ro dồn vào một ngành.</a:t>
            </a:r>
          </a:p>
        </p:txBody>
      </p:sp>
      <p:sp>
        <p:nvSpPr>
          <p:cNvPr id="8" name="Rectangle 7"/>
          <p:cNvSpPr/>
          <p:nvPr/>
        </p:nvSpPr>
        <p:spPr>
          <a:xfrm>
            <a:off x="667512" y="4187952"/>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10332720" cy="685800"/>
          </a:xfrm>
          <a:prstGeom prst="rect">
            <a:avLst/>
          </a:prstGeom>
          <a:noFill/>
        </p:spPr>
        <p:txBody>
          <a:bodyPr wrap="square" lIns="0" rIns="0" tIns="0" bIns="0">
            <a:spAutoFit/>
          </a:bodyPr>
          <a:lstStyle/>
          <a:p>
            <a:pPr algn="l">
              <a:defRPr sz="1900" b="0">
                <a:solidFill>
                  <a:srgbClr val="17253A"/>
                </a:solidFill>
                <a:latin typeface="Aptos"/>
              </a:defRPr>
            </a:pPr>
            <a:r>
              <a:t>Đã có giao diện, lịch sử AI và bước duyệt hành động.</a:t>
            </a:r>
          </a:p>
        </p:txBody>
      </p:sp>
      <p:sp>
        <p:nvSpPr>
          <p:cNvPr id="10" name="Rectangle 9"/>
          <p:cNvSpPr/>
          <p:nvPr/>
        </p:nvSpPr>
        <p:spPr>
          <a:xfrm>
            <a:off x="667512" y="4992624"/>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73752"/>
            <a:ext cx="10332720" cy="685800"/>
          </a:xfrm>
          <a:prstGeom prst="rect">
            <a:avLst/>
          </a:prstGeom>
          <a:noFill/>
        </p:spPr>
        <p:txBody>
          <a:bodyPr wrap="square" lIns="0" rIns="0" tIns="0" bIns="0">
            <a:spAutoFit/>
          </a:bodyPr>
          <a:lstStyle/>
          <a:p>
            <a:pPr algn="l">
              <a:defRPr sz="1900" b="0">
                <a:solidFill>
                  <a:srgbClr val="17253A"/>
                </a:solidFill>
                <a:latin typeface="Aptos"/>
              </a:defRPr>
            </a:pPr>
            <a:r>
              <a:t>Cần xác nhận dữ liệu mẫu, cấu hình AI và demo trọn luồng trước khi nộp.</a:t>
            </a:r>
          </a:p>
        </p:txBody>
      </p:sp>
      <p:sp>
        <p:nvSpPr>
          <p:cNvPr id="12" name="TextBox 11"/>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Bản pitch làm việc · 29/09/2026 · Số liệu người dùng là tình huống minh họa, chưa phải nghiên cứu khách hàng</a:t>
            </a:r>
          </a:p>
        </p:txBody>
      </p:sp>
      <p:sp>
        <p:nvSpPr>
          <p:cNvPr id="13" name="TextBox 12"/>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Hai hướng thử doanh thu: Plus và tích hợp đối tác.</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Bắt đầu trực tiếp để học nhu cầu; chỉ mở rộng qua đối tác khi kết quả được chứng minh.</a:t>
            </a:r>
          </a:p>
        </p:txBody>
      </p:sp>
      <p:sp>
        <p:nvSpPr>
          <p:cNvPr id="6" name="Rounded Rectangle 5"/>
          <p:cNvSpPr/>
          <p:nvPr/>
        </p:nvSpPr>
        <p:spPr>
          <a:xfrm>
            <a:off x="640080"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01</a:t>
            </a:r>
          </a:p>
        </p:txBody>
      </p:sp>
      <p:sp>
        <p:nvSpPr>
          <p:cNvPr id="8" name="TextBox 7"/>
          <p:cNvSpPr txBox="1"/>
          <p:nvPr/>
        </p:nvSpPr>
        <p:spPr>
          <a:xfrm>
            <a:off x="841247"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Free để thử; Plus 49.000đ/tháng là giá đang cấu hình, chưa xác nhận sức mua.</a:t>
            </a:r>
          </a:p>
        </p:txBody>
      </p:sp>
      <p:sp>
        <p:nvSpPr>
          <p:cNvPr id="9" name="Rounded Rectangle 8"/>
          <p:cNvSpPr/>
          <p:nvPr/>
        </p:nvSpPr>
        <p:spPr>
          <a:xfrm>
            <a:off x="4416552"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02</a:t>
            </a:r>
          </a:p>
        </p:txBody>
      </p:sp>
      <p:sp>
        <p:nvSpPr>
          <p:cNvPr id="11" name="TextBox 10"/>
          <p:cNvSpPr txBox="1"/>
          <p:nvPr/>
        </p:nvSpPr>
        <p:spPr>
          <a:xfrm>
            <a:off x="4617720"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Pilot với ngân hàng/fintech: tích hợp vào app; phí triển khai và sử dụng là giả thuyết.</a:t>
            </a:r>
          </a:p>
        </p:txBody>
      </p:sp>
      <p:sp>
        <p:nvSpPr>
          <p:cNvPr id="12" name="Rounded Rectangle 11"/>
          <p:cNvSpPr/>
          <p:nvPr/>
        </p:nvSpPr>
        <p:spPr>
          <a:xfrm>
            <a:off x="8193023" y="3310128"/>
            <a:ext cx="3493008" cy="1938528"/>
          </a:xfrm>
          <a:prstGeom prst="roundRect">
            <a:avLst/>
          </a:prstGeom>
          <a:solidFill>
            <a:srgbClr val="FFFFFF"/>
          </a:solidFill>
          <a:ln>
            <a:solidFill>
              <a:srgbClr val="DBE3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3575304"/>
            <a:ext cx="3017520" cy="347472"/>
          </a:xfrm>
          <a:prstGeom prst="rect">
            <a:avLst/>
          </a:prstGeom>
          <a:noFill/>
        </p:spPr>
        <p:txBody>
          <a:bodyPr wrap="square" lIns="0" rIns="0" tIns="0" bIns="0">
            <a:spAutoFit/>
          </a:bodyPr>
          <a:lstStyle/>
          <a:p>
            <a:pPr algn="l">
              <a:defRPr sz="1200" b="1">
                <a:solidFill>
                  <a:srgbClr val="087E83"/>
                </a:solidFill>
                <a:latin typeface="Aptos"/>
              </a:defRPr>
            </a:pPr>
            <a:r>
              <a:t>03</a:t>
            </a:r>
          </a:p>
        </p:txBody>
      </p:sp>
      <p:sp>
        <p:nvSpPr>
          <p:cNvPr id="14" name="TextBox 13"/>
          <p:cNvSpPr txBox="1"/>
          <p:nvPr/>
        </p:nvSpPr>
        <p:spPr>
          <a:xfrm>
            <a:off x="8394192" y="4023360"/>
            <a:ext cx="3044952" cy="1005840"/>
          </a:xfrm>
          <a:prstGeom prst="rect">
            <a:avLst/>
          </a:prstGeom>
          <a:noFill/>
        </p:spPr>
        <p:txBody>
          <a:bodyPr wrap="square" lIns="0" rIns="0" tIns="0" bIns="0">
            <a:spAutoFit/>
          </a:bodyPr>
          <a:lstStyle/>
          <a:p>
            <a:pPr algn="l">
              <a:defRPr sz="1700" b="1">
                <a:solidFill>
                  <a:srgbClr val="17253A"/>
                </a:solidFill>
                <a:latin typeface="Aptos"/>
              </a:defRPr>
            </a:pPr>
            <a:r>
              <a:t>Kiểm tra lãi gộp: 49.000đ trừ AI, hạ tầng, thanh toán và hỗ trợ mỗi user.</a:t>
            </a:r>
          </a:p>
        </p:txBody>
      </p:sp>
      <p:sp>
        <p:nvSpPr>
          <p:cNvPr id="15" name="TextBox 14"/>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Bản pitch làm việc · 29/09/2026 · Số liệu người dùng là tình huống minh họa, chưa phải nghiên cứu khách hàng</a:t>
            </a:r>
          </a:p>
        </p:txBody>
      </p:sp>
      <p:sp>
        <p:nvSpPr>
          <p:cNvPr id="16" name="TextBox 15"/>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5EE"/>
        </a:solidFill>
        <a:effectLst/>
      </p:bgPr>
    </p:bg>
    <p:spTree>
      <p:nvGrpSpPr>
        <p:cNvPr id="1" name=""/>
        <p:cNvGrpSpPr/>
        <p:nvPr/>
      </p:nvGrpSpPr>
      <p:grpSpPr/>
      <p:sp>
        <p:nvSpPr>
          <p:cNvPr id="2" name="Rectangle 1"/>
          <p:cNvSpPr/>
          <p:nvPr/>
        </p:nvSpPr>
        <p:spPr>
          <a:xfrm>
            <a:off x="0" y="0"/>
            <a:ext cx="118872" cy="68580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65760"/>
            <a:ext cx="10881360" cy="292608"/>
          </a:xfrm>
          <a:prstGeom prst="rect">
            <a:avLst/>
          </a:prstGeom>
          <a:noFill/>
        </p:spPr>
        <p:txBody>
          <a:bodyPr wrap="square" lIns="0" rIns="0" tIns="0" bIns="0">
            <a:spAutoFit/>
          </a:bodyPr>
          <a:lstStyle/>
          <a:p>
            <a:pPr algn="l">
              <a:defRPr sz="1000" b="1">
                <a:solidFill>
                  <a:srgbClr val="087E83"/>
                </a:solidFill>
                <a:latin typeface="Aptos"/>
              </a:defRPr>
            </a:pPr>
            <a:r>
              <a:t>FINTECHATHON 2026 · INTERNATIONAL TRACK · TOPIC A</a:t>
            </a:r>
          </a:p>
        </p:txBody>
      </p:sp>
      <p:sp>
        <p:nvSpPr>
          <p:cNvPr id="4" name="TextBox 3"/>
          <p:cNvSpPr txBox="1"/>
          <p:nvPr/>
        </p:nvSpPr>
        <p:spPr>
          <a:xfrm>
            <a:off x="621792" y="932688"/>
            <a:ext cx="10881360" cy="1335024"/>
          </a:xfrm>
          <a:prstGeom prst="rect">
            <a:avLst/>
          </a:prstGeom>
          <a:noFill/>
        </p:spPr>
        <p:txBody>
          <a:bodyPr wrap="square" lIns="0" rIns="0" tIns="0" bIns="0">
            <a:spAutoFit/>
          </a:bodyPr>
          <a:lstStyle/>
          <a:p>
            <a:pPr algn="l">
              <a:defRPr sz="2900" b="1">
                <a:solidFill>
                  <a:srgbClr val="172B4D"/>
                </a:solidFill>
                <a:latin typeface="Aptos"/>
              </a:defRPr>
            </a:pPr>
            <a:r>
              <a:t>Người dùng quyết định — và giải thích được vì sao.</a:t>
            </a:r>
          </a:p>
        </p:txBody>
      </p:sp>
      <p:sp>
        <p:nvSpPr>
          <p:cNvPr id="5" name="TextBox 4"/>
          <p:cNvSpPr txBox="1"/>
          <p:nvPr/>
        </p:nvSpPr>
        <p:spPr>
          <a:xfrm>
            <a:off x="658368" y="2304288"/>
            <a:ext cx="10515600" cy="749808"/>
          </a:xfrm>
          <a:prstGeom prst="rect">
            <a:avLst/>
          </a:prstGeom>
          <a:noFill/>
        </p:spPr>
        <p:txBody>
          <a:bodyPr wrap="square" lIns="0" rIns="0" tIns="0" bIns="0">
            <a:spAutoFit/>
          </a:bodyPr>
          <a:lstStyle/>
          <a:p>
            <a:pPr algn="l">
              <a:defRPr sz="1700" b="0">
                <a:solidFill>
                  <a:srgbClr val="5D6B7D"/>
                </a:solidFill>
                <a:latin typeface="Aptos"/>
              </a:defRPr>
            </a:pPr>
            <a:r>
              <a:t>Kế hoạch kiểm chứng trước khi biến pitch thành lời hứa thương mại.</a:t>
            </a:r>
          </a:p>
        </p:txBody>
      </p:sp>
      <p:sp>
        <p:nvSpPr>
          <p:cNvPr id="6" name="Rectangle 5"/>
          <p:cNvSpPr/>
          <p:nvPr/>
        </p:nvSpPr>
        <p:spPr>
          <a:xfrm>
            <a:off x="667512" y="3383279"/>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64408"/>
            <a:ext cx="10332720" cy="685800"/>
          </a:xfrm>
          <a:prstGeom prst="rect">
            <a:avLst/>
          </a:prstGeom>
          <a:noFill/>
        </p:spPr>
        <p:txBody>
          <a:bodyPr wrap="square" lIns="0" rIns="0" tIns="0" bIns="0">
            <a:spAutoFit/>
          </a:bodyPr>
          <a:lstStyle/>
          <a:p>
            <a:pPr algn="l">
              <a:defRPr sz="1900" b="0">
                <a:solidFill>
                  <a:srgbClr val="17253A"/>
                </a:solidFill>
                <a:latin typeface="Aptos"/>
              </a:defRPr>
            </a:pPr>
            <a:r>
              <a:t>Phỏng vấn người đang cân nhắc học, đổi việc hoặc chăm sóc gia đình.</a:t>
            </a:r>
          </a:p>
        </p:txBody>
      </p:sp>
      <p:sp>
        <p:nvSpPr>
          <p:cNvPr id="8" name="Rectangle 7"/>
          <p:cNvSpPr/>
          <p:nvPr/>
        </p:nvSpPr>
        <p:spPr>
          <a:xfrm>
            <a:off x="667512" y="4187952"/>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10332720" cy="685800"/>
          </a:xfrm>
          <a:prstGeom prst="rect">
            <a:avLst/>
          </a:prstGeom>
          <a:noFill/>
        </p:spPr>
        <p:txBody>
          <a:bodyPr wrap="square" lIns="0" rIns="0" tIns="0" bIns="0">
            <a:spAutoFit/>
          </a:bodyPr>
          <a:lstStyle/>
          <a:p>
            <a:pPr algn="l">
              <a:defRPr sz="1900" b="0">
                <a:solidFill>
                  <a:srgbClr val="17253A"/>
                </a:solidFill>
                <a:latin typeface="Aptos"/>
              </a:defRPr>
            </a:pPr>
            <a:r>
              <a:t>Cho họ thử 2 phương án; đo hiểu giả định, quyết định và bước tiếp theo.</a:t>
            </a:r>
          </a:p>
        </p:txBody>
      </p:sp>
      <p:sp>
        <p:nvSpPr>
          <p:cNvPr id="10" name="Rectangle 9"/>
          <p:cNvSpPr/>
          <p:nvPr/>
        </p:nvSpPr>
        <p:spPr>
          <a:xfrm>
            <a:off x="667512" y="4992624"/>
            <a:ext cx="91440" cy="914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73752"/>
            <a:ext cx="10332720" cy="685800"/>
          </a:xfrm>
          <a:prstGeom prst="rect">
            <a:avLst/>
          </a:prstGeom>
          <a:noFill/>
        </p:spPr>
        <p:txBody>
          <a:bodyPr wrap="square" lIns="0" rIns="0" tIns="0" bIns="0">
            <a:spAutoFit/>
          </a:bodyPr>
          <a:lstStyle/>
          <a:p>
            <a:pPr algn="l">
              <a:defRPr sz="1900" b="0">
                <a:solidFill>
                  <a:srgbClr val="17253A"/>
                </a:solidFill>
                <a:latin typeface="Aptos"/>
              </a:defRPr>
            </a:pPr>
            <a:r>
              <a:t>Pilot đối tác sau khi demo, quyền dữ liệu và chi phí/phiên đã được xác minh.</a:t>
            </a:r>
          </a:p>
        </p:txBody>
      </p:sp>
      <p:sp>
        <p:nvSpPr>
          <p:cNvPr id="12" name="TextBox 11"/>
          <p:cNvSpPr txBox="1"/>
          <p:nvPr/>
        </p:nvSpPr>
        <p:spPr>
          <a:xfrm>
            <a:off x="658368" y="6483096"/>
            <a:ext cx="9875520" cy="201168"/>
          </a:xfrm>
          <a:prstGeom prst="rect">
            <a:avLst/>
          </a:prstGeom>
          <a:noFill/>
        </p:spPr>
        <p:txBody>
          <a:bodyPr wrap="square" lIns="0" rIns="0" tIns="0" bIns="0">
            <a:spAutoFit/>
          </a:bodyPr>
          <a:lstStyle/>
          <a:p>
            <a:pPr algn="l">
              <a:defRPr sz="800" b="0">
                <a:solidFill>
                  <a:srgbClr val="5D6B7D"/>
                </a:solidFill>
                <a:latin typeface="Aptos"/>
              </a:defRPr>
            </a:pPr>
            <a:r>
              <a:t>Bản pitch làm việc · 29/09/2026 · Số liệu người dùng là tình huống minh họa, chưa phải nghiên cứu khách hàng</a:t>
            </a:r>
          </a:p>
        </p:txBody>
      </p:sp>
      <p:sp>
        <p:nvSpPr>
          <p:cNvPr id="13" name="TextBox 12"/>
          <p:cNvSpPr txBox="1"/>
          <p:nvPr/>
        </p:nvSpPr>
        <p:spPr>
          <a:xfrm>
            <a:off x="11045952" y="6419088"/>
            <a:ext cx="502920" cy="274320"/>
          </a:xfrm>
          <a:prstGeom prst="rect">
            <a:avLst/>
          </a:prstGeom>
          <a:noFill/>
        </p:spPr>
        <p:txBody>
          <a:bodyPr wrap="square" lIns="0" rIns="0" tIns="0" bIns="0">
            <a:spAutoFit/>
          </a:bodyPr>
          <a:lstStyle/>
          <a:p>
            <a:pPr algn="r">
              <a:defRPr sz="1200" b="1">
                <a:solidFill>
                  <a:srgbClr val="087E83"/>
                </a:solidFill>
                <a:latin typeface="Aptos"/>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