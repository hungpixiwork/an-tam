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One-sentence pitch: An Tâm turns ‘Can I leave work to study?’ into an inspectable comparison: how long savings last, which goals move, and what must change first. The person makes the decision.</a:t>
            </a:r>
          </a:p>
          <a:p>
            <a:r>
              <a:t>Evidence / status: Topic A positioning; no claim of paying customers.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Linh is an illustrative persona, not an interview finding. The useful question is not whether she wants another spending chart. It is how many safe months remain if she starts next month, and what changes if she waits or studies part-time. The CFPB frames financial well-being around absorbing shocks and having freedom of choice, rather than account balances alone.</a:t>
            </a:r>
          </a:p>
          <a:p>
            <a:r>
              <a:t>Evidence / status: Illustrative scenario. CFPB is a framing source; Vietnamese user interviews must validate the pain.</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is positioning, not a claim that no competitor has similar features. The experience to prove is a single flow from question to options, conditions for action and an approved next step. Avoid unsupported comparison grids and ‘first in the market’ language.</a:t>
            </a:r>
          </a:p>
          <a:p>
            <a:r>
              <a:t>Evidence / status: Official YNAB and ProjectionLab product pages; no direct comparative user study yet.</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 hand-calculated example: VND 84m liquid, VND 21m essential monthly spending, six months without pay and VND 120m tuition produces an initial VND 162m cash gap. Keeping VND 14m monthly income reduces the gap to VND 78m. These numbers explain the question; they are not engine output. The application also considers reserves, other goals and explicit assumptions.</a:t>
            </a:r>
          </a:p>
          <a:p>
            <a:r>
              <a:t>Evidence / status: The life-choice engine exists at shared/engine/lifeChoice.ts; numeric example is illustrative.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 ‘decision receipt’ records an option's cost, remaining buffer, affected goals, adverse scenario and condition for proceeding. An Tâm can calculate a feasibility score, but the score is not the story. Scenarios are sensitivity tests, not forecasts. Do not promise a salary increase after study.</a:t>
            </a:r>
          </a:p>
          <a:p>
            <a:r>
              <a:t>Evidence / status: shared/engine/lifeChoice.ts exposes verdict, funding.shortfall, monthsAfter and choiceConditions; hand-check demo figures before use.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The new product loop evaluates a choice, shows what would change the outcome, tests an income and asset shock together, and proposes a concrete task. ILO occupational exposure to GenAI is not a prediction of an individual's job loss; An Tâm treats it as an inspectable uncertainty assumption. Do not claim this is the first or only tool of its kind.</a:t>
            </a:r>
          </a:p>
          <a:p>
            <a:r>
              <a:t>Evidence / status: shared/engine/lifeChoice.ts, concentration.ts, humanCapital.ts and actions in shared/agent/planner.ts; ILO 2025 informs exposure assumptions only.</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is the connection to AI as a Financial Participant: AI participates in a traceable financial workflow. In the code, Workers AI runs only when configured; errors and timeouts fall back to rules. The LLM does not calculate the amount or approve writes. The competition demo must show the timeline and a real pending action.</a:t>
            </a:r>
          </a:p>
          <a:p>
            <a:r>
              <a:t>Evidence / status: worker/agents/llm.ts and runner.ts; worker/routes/agent.ts; worker/agents/executor.ts. Check the AI binding and end-to-end demo in the submission environment.</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Code or tests are not evidence of customers. Open a reproducible demo account, keep one decision throughout, let the judges change an assumption and try double approval. If the AI binding is unavailable, show and label the rule-based fallback rather than implying the LLM ran.</a:t>
            </a:r>
          </a:p>
          <a:p>
            <a:r>
              <a:t>Evidence / status: Current repository modules listed here; this document does not verify production or demo repeatability.</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The repository contains Free/Plus/Bank plans and payment-upgrade logic, but that is not revenue evidence. The direct channel must measure paid conversion, acquisition cost and contribution margin per user. Bank distribution takes time: start with a small pilot using authorized data, security and legal review; negotiate setup and active-user fees only after measurable partner outcomes. Do not promise lower defaults or higher retention without partner data.</a:t>
            </a:r>
          </a:p>
          <a:p>
            <a:r>
              <a:t>Evidence / status: shared/plans.ts configures the Plus price; worker/lib/plans.ts contains payment logic. No contract or revenue is evidenced here.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Close: An Tâm does not decide for people. We show the cost of a choice, what happens when shocks compound, and the condition for moving forward. Before the 20 October deadline, the entry needs a repeatable demo and security checks, not unsupported market projections.</a:t>
            </a:r>
          </a:p>
          <a:p>
            <a:r>
              <a:t>Evidence / status: Pilot steps are plans, not completed results. International Track deadline: IEEE CIS Shenzhen.</a:t>
            </a:r>
          </a:p>
          <a:p>
            <a:r>
              <a:t>Contest scope: https://r10.ieee.org/shenzhen-cis/blog/2026/06/17/2026-shenzhen-international-fintech-competition-international-track/</a:t>
            </a:r>
          </a:p>
          <a:p>
            <a:r>
              <a:t>Contest theme: https://www.stcn.com/article/detail/4168818.html</a:t>
            </a:r>
          </a:p>
          <a:p>
            <a:r>
              <a:t>User need: https://www.consumerfinance.gov/consumer-tools/financial-well-being/about/</a:t>
            </a:r>
          </a:p>
          <a:p>
            <a:r>
              <a:t>Career uncertainty: https://www.ilo.org/publications/generative-ai-and-jobs-2025-update</a:t>
            </a:r>
          </a:p>
          <a:p>
            <a:r>
              <a:t>Competitor: https://www.ynab.com/features/goal-tracking</a:t>
            </a:r>
          </a:p>
          <a:p>
            <a:r>
              <a:t>Competitor: https://projectionlab.com/blog/compare-mode-upgrades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1069848"/>
            <a:ext cx="10881360" cy="1920240"/>
          </a:xfrm>
          <a:prstGeom prst="rect">
            <a:avLst/>
          </a:prstGeom>
          <a:noFill/>
        </p:spPr>
        <p:txBody>
          <a:bodyPr wrap="square" lIns="0" rIns="0" tIns="0" bIns="0">
            <a:spAutoFit/>
          </a:bodyPr>
          <a:lstStyle/>
          <a:p>
            <a:pPr algn="l">
              <a:defRPr sz="3800" b="1">
                <a:solidFill>
                  <a:srgbClr val="172B4D"/>
                </a:solidFill>
                <a:latin typeface="Aptos"/>
              </a:defRPr>
            </a:pPr>
            <a:r>
              <a:t>Know whether you can afford the leap before you take it.</a:t>
            </a:r>
          </a:p>
        </p:txBody>
      </p:sp>
      <p:sp>
        <p:nvSpPr>
          <p:cNvPr id="5" name="TextBox 4"/>
          <p:cNvSpPr txBox="1"/>
          <p:nvPr/>
        </p:nvSpPr>
        <p:spPr>
          <a:xfrm>
            <a:off x="658368" y="3099816"/>
            <a:ext cx="10515600" cy="1005840"/>
          </a:xfrm>
          <a:prstGeom prst="rect">
            <a:avLst/>
          </a:prstGeom>
          <a:noFill/>
        </p:spPr>
        <p:txBody>
          <a:bodyPr wrap="square" lIns="0" rIns="0" tIns="0" bIns="0">
            <a:spAutoFit/>
          </a:bodyPr>
          <a:lstStyle/>
          <a:p>
            <a:pPr algn="l">
              <a:defRPr sz="2300" b="0">
                <a:solidFill>
                  <a:srgbClr val="17253A"/>
                </a:solidFill>
                <a:latin typeface="Aptos"/>
              </a:defRPr>
            </a:pPr>
            <a:r>
              <a:t>An Tâm AI helps young adults test a major life decision against their money, career and goals.</a:t>
            </a:r>
          </a:p>
        </p:txBody>
      </p:sp>
      <p:sp>
        <p:nvSpPr>
          <p:cNvPr id="6" name="TextBox 5"/>
          <p:cNvSpPr txBox="1"/>
          <p:nvPr/>
        </p:nvSpPr>
        <p:spPr>
          <a:xfrm>
            <a:off x="694944" y="4901184"/>
            <a:ext cx="10424160" cy="301752"/>
          </a:xfrm>
          <a:prstGeom prst="rect">
            <a:avLst/>
          </a:prstGeom>
          <a:noFill/>
        </p:spPr>
        <p:txBody>
          <a:bodyPr wrap="square" lIns="0" rIns="0" tIns="0" bIns="0">
            <a:spAutoFit/>
          </a:bodyPr>
          <a:lstStyle/>
          <a:p>
            <a:pPr algn="l">
              <a:defRPr sz="1500" b="1">
                <a:solidFill>
                  <a:srgbClr val="087E83"/>
                </a:solidFill>
                <a:latin typeface="Aptos"/>
              </a:defRPr>
            </a:pPr>
            <a:r>
              <a:t>Ask in everyday language.</a:t>
            </a:r>
          </a:p>
        </p:txBody>
      </p:sp>
      <p:sp>
        <p:nvSpPr>
          <p:cNvPr id="7" name="TextBox 6"/>
          <p:cNvSpPr txBox="1"/>
          <p:nvPr/>
        </p:nvSpPr>
        <p:spPr>
          <a:xfrm>
            <a:off x="694944" y="5266944"/>
            <a:ext cx="10424160" cy="301752"/>
          </a:xfrm>
          <a:prstGeom prst="rect">
            <a:avLst/>
          </a:prstGeom>
          <a:noFill/>
        </p:spPr>
        <p:txBody>
          <a:bodyPr wrap="square" lIns="0" rIns="0" tIns="0" bIns="0">
            <a:spAutoFit/>
          </a:bodyPr>
          <a:lstStyle/>
          <a:p>
            <a:pPr algn="l">
              <a:defRPr sz="1500" b="1">
                <a:solidFill>
                  <a:srgbClr val="087E83"/>
                </a:solidFill>
                <a:latin typeface="Aptos"/>
              </a:defRPr>
            </a:pPr>
            <a:r>
              <a:t>See the cost of each option.</a:t>
            </a:r>
          </a:p>
        </p:txBody>
      </p:sp>
      <p:sp>
        <p:nvSpPr>
          <p:cNvPr id="8" name="TextBox 7"/>
          <p:cNvSpPr txBox="1"/>
          <p:nvPr/>
        </p:nvSpPr>
        <p:spPr>
          <a:xfrm>
            <a:off x="694944" y="5632704"/>
            <a:ext cx="10424160" cy="301752"/>
          </a:xfrm>
          <a:prstGeom prst="rect">
            <a:avLst/>
          </a:prstGeom>
          <a:noFill/>
        </p:spPr>
        <p:txBody>
          <a:bodyPr wrap="square" lIns="0" rIns="0" tIns="0" bIns="0">
            <a:spAutoFit/>
          </a:bodyPr>
          <a:lstStyle/>
          <a:p>
            <a:pPr algn="l">
              <a:defRPr sz="1500" b="1">
                <a:solidFill>
                  <a:srgbClr val="087E83"/>
                </a:solidFill>
                <a:latin typeface="Aptos"/>
              </a:defRPr>
            </a:pPr>
            <a:r>
              <a:t>Approve the next step yourself.</a:t>
            </a:r>
          </a:p>
        </p:txBody>
      </p:sp>
      <p:sp>
        <p:nvSpPr>
          <p:cNvPr id="9" name="TextBox 8"/>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Working pitch · 29 September 2026 · The persona and amounts are illustrative, not user-research findings</a:t>
            </a:r>
          </a:p>
        </p:txBody>
      </p:sp>
      <p:sp>
        <p:nvSpPr>
          <p:cNvPr id="10" name="TextBox 9"/>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932688"/>
            <a:ext cx="10881360" cy="1335024"/>
          </a:xfrm>
          <a:prstGeom prst="rect">
            <a:avLst/>
          </a:prstGeom>
          <a:noFill/>
        </p:spPr>
        <p:txBody>
          <a:bodyPr wrap="square" lIns="0" rIns="0" tIns="0" bIns="0">
            <a:spAutoFit/>
          </a:bodyPr>
          <a:lstStyle/>
          <a:p>
            <a:pPr algn="l">
              <a:defRPr sz="2900" b="1">
                <a:solidFill>
                  <a:srgbClr val="172B4D"/>
                </a:solidFill>
                <a:latin typeface="Aptos"/>
              </a:defRPr>
            </a:pPr>
            <a:r>
              <a:t>Linh wants to leave work to study. When can she start?</a:t>
            </a:r>
          </a:p>
        </p:txBody>
      </p:sp>
      <p:sp>
        <p:nvSpPr>
          <p:cNvPr id="5" name="TextBox 4"/>
          <p:cNvSpPr txBox="1"/>
          <p:nvPr/>
        </p:nvSpPr>
        <p:spPr>
          <a:xfrm>
            <a:off x="658368" y="2304288"/>
            <a:ext cx="10515600" cy="749808"/>
          </a:xfrm>
          <a:prstGeom prst="rect">
            <a:avLst/>
          </a:prstGeom>
          <a:noFill/>
        </p:spPr>
        <p:txBody>
          <a:bodyPr wrap="square" lIns="0" rIns="0" tIns="0" bIns="0">
            <a:spAutoFit/>
          </a:bodyPr>
          <a:lstStyle/>
          <a:p>
            <a:pPr algn="l">
              <a:defRPr sz="1700" b="0">
                <a:solidFill>
                  <a:srgbClr val="5D6B7D"/>
                </a:solidFill>
                <a:latin typeface="Aptos"/>
              </a:defRPr>
            </a:pPr>
            <a:r>
              <a:t>One decision, four things to weigh together.</a:t>
            </a:r>
          </a:p>
        </p:txBody>
      </p:sp>
      <p:sp>
        <p:nvSpPr>
          <p:cNvPr id="6" name="Rectangle 5"/>
          <p:cNvSpPr/>
          <p:nvPr/>
        </p:nvSpPr>
        <p:spPr>
          <a:xfrm>
            <a:off x="667512" y="3383279"/>
            <a:ext cx="91440" cy="914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64408"/>
            <a:ext cx="10332720" cy="685800"/>
          </a:xfrm>
          <a:prstGeom prst="rect">
            <a:avLst/>
          </a:prstGeom>
          <a:noFill/>
        </p:spPr>
        <p:txBody>
          <a:bodyPr wrap="square" lIns="0" rIns="0" tIns="0" bIns="0">
            <a:spAutoFit/>
          </a:bodyPr>
          <a:lstStyle/>
          <a:p>
            <a:pPr algn="l">
              <a:defRPr sz="1900" b="0">
                <a:solidFill>
                  <a:srgbClr val="17253A"/>
                </a:solidFill>
                <a:latin typeface="Aptos"/>
              </a:defRPr>
            </a:pPr>
            <a:r>
              <a:t>Tuition and living costs without a salary.</a:t>
            </a:r>
          </a:p>
        </p:txBody>
      </p:sp>
      <p:sp>
        <p:nvSpPr>
          <p:cNvPr id="8" name="Rectangle 7"/>
          <p:cNvSpPr/>
          <p:nvPr/>
        </p:nvSpPr>
        <p:spPr>
          <a:xfrm>
            <a:off x="667512" y="4187952"/>
            <a:ext cx="91440" cy="914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69080"/>
            <a:ext cx="10332720" cy="685800"/>
          </a:xfrm>
          <a:prstGeom prst="rect">
            <a:avLst/>
          </a:prstGeom>
          <a:noFill/>
        </p:spPr>
        <p:txBody>
          <a:bodyPr wrap="square" lIns="0" rIns="0" tIns="0" bIns="0">
            <a:spAutoFit/>
          </a:bodyPr>
          <a:lstStyle/>
          <a:p>
            <a:pPr algn="l">
              <a:defRPr sz="1900" b="0">
                <a:solidFill>
                  <a:srgbClr val="17253A"/>
                </a:solidFill>
                <a:latin typeface="Aptos"/>
              </a:defRPr>
            </a:pPr>
            <a:r>
              <a:t>An emergency buffer and a home goal.</a:t>
            </a:r>
          </a:p>
        </p:txBody>
      </p:sp>
      <p:sp>
        <p:nvSpPr>
          <p:cNvPr id="10" name="Rectangle 9"/>
          <p:cNvSpPr/>
          <p:nvPr/>
        </p:nvSpPr>
        <p:spPr>
          <a:xfrm>
            <a:off x="667512" y="4992624"/>
            <a:ext cx="91440" cy="914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873752"/>
            <a:ext cx="10332720" cy="685800"/>
          </a:xfrm>
          <a:prstGeom prst="rect">
            <a:avLst/>
          </a:prstGeom>
          <a:noFill/>
        </p:spPr>
        <p:txBody>
          <a:bodyPr wrap="square" lIns="0" rIns="0" tIns="0" bIns="0">
            <a:spAutoFit/>
          </a:bodyPr>
          <a:lstStyle/>
          <a:p>
            <a:pPr algn="l">
              <a:defRPr sz="1900" b="0">
                <a:solidFill>
                  <a:srgbClr val="17253A"/>
                </a:solidFill>
                <a:latin typeface="Aptos"/>
              </a:defRPr>
            </a:pPr>
            <a:r>
              <a:t>Investments exposed to the same sector as her job.</a:t>
            </a:r>
          </a:p>
        </p:txBody>
      </p:sp>
      <p:sp>
        <p:nvSpPr>
          <p:cNvPr id="12" name="TextBox 11"/>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Working pitch · 29 September 2026 · The persona and amounts are illustrative, not user-research findings</a:t>
            </a:r>
          </a:p>
        </p:txBody>
      </p:sp>
      <p:sp>
        <p:nvSpPr>
          <p:cNvPr id="13" name="TextBox 12"/>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932688"/>
            <a:ext cx="10881360" cy="1335024"/>
          </a:xfrm>
          <a:prstGeom prst="rect">
            <a:avLst/>
          </a:prstGeom>
          <a:noFill/>
        </p:spPr>
        <p:txBody>
          <a:bodyPr wrap="square" lIns="0" rIns="0" tIns="0" bIns="0">
            <a:spAutoFit/>
          </a:bodyPr>
          <a:lstStyle/>
          <a:p>
            <a:pPr algn="l">
              <a:defRPr sz="2900" b="1">
                <a:solidFill>
                  <a:srgbClr val="172B4D"/>
                </a:solidFill>
                <a:latin typeface="Aptos"/>
              </a:defRPr>
            </a:pPr>
            <a:r>
              <a:t>One decision spans budgets, goals and career risk.</a:t>
            </a:r>
          </a:p>
        </p:txBody>
      </p:sp>
      <p:sp>
        <p:nvSpPr>
          <p:cNvPr id="5" name="TextBox 4"/>
          <p:cNvSpPr txBox="1"/>
          <p:nvPr/>
        </p:nvSpPr>
        <p:spPr>
          <a:xfrm>
            <a:off x="658368" y="2304288"/>
            <a:ext cx="10515600" cy="749808"/>
          </a:xfrm>
          <a:prstGeom prst="rect">
            <a:avLst/>
          </a:prstGeom>
          <a:noFill/>
        </p:spPr>
        <p:txBody>
          <a:bodyPr wrap="square" lIns="0" rIns="0" tIns="0" bIns="0">
            <a:spAutoFit/>
          </a:bodyPr>
          <a:lstStyle/>
          <a:p>
            <a:pPr algn="l">
              <a:defRPr sz="1700" b="0">
                <a:solidFill>
                  <a:srgbClr val="5D6B7D"/>
                </a:solidFill>
                <a:latin typeface="Aptos"/>
              </a:defRPr>
            </a:pPr>
            <a:r>
              <a:t>Budget, long-term plans and earning power are often considered separately.</a:t>
            </a:r>
          </a:p>
        </p:txBody>
      </p:sp>
      <p:sp>
        <p:nvSpPr>
          <p:cNvPr id="6" name="Rounded Rectangle 5"/>
          <p:cNvSpPr/>
          <p:nvPr/>
        </p:nvSpPr>
        <p:spPr>
          <a:xfrm>
            <a:off x="640080"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01</a:t>
            </a:r>
          </a:p>
        </p:txBody>
      </p:sp>
      <p:sp>
        <p:nvSpPr>
          <p:cNvPr id="8" name="TextBox 7"/>
          <p:cNvSpPr txBox="1"/>
          <p:nvPr/>
        </p:nvSpPr>
        <p:spPr>
          <a:xfrm>
            <a:off x="841247"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YNAB helps people budget and fund goals.</a:t>
            </a:r>
          </a:p>
        </p:txBody>
      </p:sp>
      <p:sp>
        <p:nvSpPr>
          <p:cNvPr id="9" name="Rounded Rectangle 8"/>
          <p:cNvSpPr/>
          <p:nvPr/>
        </p:nvSpPr>
        <p:spPr>
          <a:xfrm>
            <a:off x="4416552"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02</a:t>
            </a:r>
          </a:p>
        </p:txBody>
      </p:sp>
      <p:sp>
        <p:nvSpPr>
          <p:cNvPr id="11" name="TextBox 10"/>
          <p:cNvSpPr txBox="1"/>
          <p:nvPr/>
        </p:nvSpPr>
        <p:spPr>
          <a:xfrm>
            <a:off x="4617720"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ProjectionLab already compares major life scenarios.</a:t>
            </a:r>
          </a:p>
        </p:txBody>
      </p:sp>
      <p:sp>
        <p:nvSpPr>
          <p:cNvPr id="12" name="Rounded Rectangle 11"/>
          <p:cNvSpPr/>
          <p:nvPr/>
        </p:nvSpPr>
        <p:spPr>
          <a:xfrm>
            <a:off x="8193023"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94192"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03</a:t>
            </a:r>
          </a:p>
        </p:txBody>
      </p:sp>
      <p:sp>
        <p:nvSpPr>
          <p:cNvPr id="14" name="TextBox 13"/>
          <p:cNvSpPr txBox="1"/>
          <p:nvPr/>
        </p:nvSpPr>
        <p:spPr>
          <a:xfrm>
            <a:off x="8394192"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An Tâm focuses on the conditions for acting when career and assets can fail together.</a:t>
            </a:r>
          </a:p>
        </p:txBody>
      </p:sp>
      <p:sp>
        <p:nvSpPr>
          <p:cNvPr id="15" name="TextBox 14"/>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Working pitch · 29 September 2026 · The persona and amounts are illustrative, not user-research findings</a:t>
            </a:r>
          </a:p>
        </p:txBody>
      </p:sp>
      <p:sp>
        <p:nvSpPr>
          <p:cNvPr id="16" name="TextBox 15"/>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932688"/>
            <a:ext cx="10881360" cy="1335024"/>
          </a:xfrm>
          <a:prstGeom prst="rect">
            <a:avLst/>
          </a:prstGeom>
          <a:noFill/>
        </p:spPr>
        <p:txBody>
          <a:bodyPr wrap="square" lIns="0" rIns="0" tIns="0" bIns="0">
            <a:spAutoFit/>
          </a:bodyPr>
          <a:lstStyle/>
          <a:p>
            <a:pPr algn="l">
              <a:defRPr sz="2900" b="1">
                <a:solidFill>
                  <a:srgbClr val="172B4D"/>
                </a:solidFill>
                <a:latin typeface="Aptos"/>
              </a:defRPr>
            </a:pPr>
            <a:r>
              <a:t>Changing the study plan cuts the cash gap from 162m to 78m.</a:t>
            </a:r>
          </a:p>
        </p:txBody>
      </p:sp>
      <p:sp>
        <p:nvSpPr>
          <p:cNvPr id="5" name="TextBox 4"/>
          <p:cNvSpPr txBox="1"/>
          <p:nvPr/>
        </p:nvSpPr>
        <p:spPr>
          <a:xfrm>
            <a:off x="658368" y="2304288"/>
            <a:ext cx="10515600" cy="749808"/>
          </a:xfrm>
          <a:prstGeom prst="rect">
            <a:avLst/>
          </a:prstGeom>
          <a:noFill/>
        </p:spPr>
        <p:txBody>
          <a:bodyPr wrap="square" lIns="0" rIns="0" tIns="0" bIns="0">
            <a:spAutoFit/>
          </a:bodyPr>
          <a:lstStyle/>
          <a:p>
            <a:pPr algn="l">
              <a:defRPr sz="1700" b="0">
                <a:solidFill>
                  <a:srgbClr val="5D6B7D"/>
                </a:solidFill>
                <a:latin typeface="Aptos"/>
              </a:defRPr>
            </a:pPr>
            <a:r>
              <a:t>Hand example: VND 84m liquid · VND 21m/month essentials · VND 120m tuition · six months.</a:t>
            </a:r>
          </a:p>
        </p:txBody>
      </p:sp>
      <p:sp>
        <p:nvSpPr>
          <p:cNvPr id="6" name="Rounded Rectangle 5"/>
          <p:cNvSpPr/>
          <p:nvPr/>
        </p:nvSpPr>
        <p:spPr>
          <a:xfrm>
            <a:off x="640080"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01</a:t>
            </a:r>
          </a:p>
        </p:txBody>
      </p:sp>
      <p:sp>
        <p:nvSpPr>
          <p:cNvPr id="8" name="TextBox 7"/>
          <p:cNvSpPr txBox="1"/>
          <p:nvPr/>
        </p:nvSpPr>
        <p:spPr>
          <a:xfrm>
            <a:off x="841247" y="3968496"/>
            <a:ext cx="3044952" cy="475488"/>
          </a:xfrm>
          <a:prstGeom prst="rect">
            <a:avLst/>
          </a:prstGeom>
          <a:noFill/>
        </p:spPr>
        <p:txBody>
          <a:bodyPr wrap="square" lIns="0" rIns="0" tIns="0" bIns="0">
            <a:spAutoFit/>
          </a:bodyPr>
          <a:lstStyle/>
          <a:p>
            <a:pPr algn="l">
              <a:defRPr sz="1600" b="0">
                <a:solidFill>
                  <a:srgbClr val="17253A"/>
                </a:solidFill>
                <a:latin typeface="Aptos"/>
              </a:defRPr>
            </a:pPr>
            <a:r>
              <a:t>Six months without pay</a:t>
            </a:r>
          </a:p>
        </p:txBody>
      </p:sp>
      <p:sp>
        <p:nvSpPr>
          <p:cNvPr id="9" name="TextBox 8"/>
          <p:cNvSpPr txBox="1"/>
          <p:nvPr/>
        </p:nvSpPr>
        <p:spPr>
          <a:xfrm>
            <a:off x="841247" y="4471416"/>
            <a:ext cx="3044952" cy="475488"/>
          </a:xfrm>
          <a:prstGeom prst="rect">
            <a:avLst/>
          </a:prstGeom>
          <a:noFill/>
        </p:spPr>
        <p:txBody>
          <a:bodyPr wrap="square" lIns="0" rIns="0" tIns="0" bIns="0">
            <a:spAutoFit/>
          </a:bodyPr>
          <a:lstStyle/>
          <a:p>
            <a:pPr algn="l">
              <a:defRPr sz="2900" b="1">
                <a:solidFill>
                  <a:srgbClr val="087E83"/>
                </a:solidFill>
                <a:latin typeface="Aptos"/>
              </a:defRPr>
            </a:pPr>
            <a:r>
              <a:t>VND 162m</a:t>
            </a:r>
          </a:p>
        </p:txBody>
      </p:sp>
      <p:sp>
        <p:nvSpPr>
          <p:cNvPr id="10" name="Rounded Rectangle 9"/>
          <p:cNvSpPr/>
          <p:nvPr/>
        </p:nvSpPr>
        <p:spPr>
          <a:xfrm>
            <a:off x="4416552"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02</a:t>
            </a:r>
          </a:p>
        </p:txBody>
      </p:sp>
      <p:sp>
        <p:nvSpPr>
          <p:cNvPr id="12" name="TextBox 11"/>
          <p:cNvSpPr txBox="1"/>
          <p:nvPr/>
        </p:nvSpPr>
        <p:spPr>
          <a:xfrm>
            <a:off x="4617720" y="3968496"/>
            <a:ext cx="3044952" cy="475488"/>
          </a:xfrm>
          <a:prstGeom prst="rect">
            <a:avLst/>
          </a:prstGeom>
          <a:noFill/>
        </p:spPr>
        <p:txBody>
          <a:bodyPr wrap="square" lIns="0" rIns="0" tIns="0" bIns="0">
            <a:spAutoFit/>
          </a:bodyPr>
          <a:lstStyle/>
          <a:p>
            <a:pPr algn="l">
              <a:defRPr sz="1600" b="0">
                <a:solidFill>
                  <a:srgbClr val="17253A"/>
                </a:solidFill>
                <a:latin typeface="Aptos"/>
              </a:defRPr>
            </a:pPr>
            <a:r>
              <a:t>Keep VND 14m/month income</a:t>
            </a:r>
          </a:p>
        </p:txBody>
      </p:sp>
      <p:sp>
        <p:nvSpPr>
          <p:cNvPr id="13" name="TextBox 12"/>
          <p:cNvSpPr txBox="1"/>
          <p:nvPr/>
        </p:nvSpPr>
        <p:spPr>
          <a:xfrm>
            <a:off x="4617720" y="4471416"/>
            <a:ext cx="3044952" cy="475488"/>
          </a:xfrm>
          <a:prstGeom prst="rect">
            <a:avLst/>
          </a:prstGeom>
          <a:noFill/>
        </p:spPr>
        <p:txBody>
          <a:bodyPr wrap="square" lIns="0" rIns="0" tIns="0" bIns="0">
            <a:spAutoFit/>
          </a:bodyPr>
          <a:lstStyle/>
          <a:p>
            <a:pPr algn="l">
              <a:defRPr sz="2900" b="1">
                <a:solidFill>
                  <a:srgbClr val="087E83"/>
                </a:solidFill>
                <a:latin typeface="Aptos"/>
              </a:defRPr>
            </a:pPr>
            <a:r>
              <a:t>VND 78m</a:t>
            </a:r>
          </a:p>
        </p:txBody>
      </p:sp>
      <p:sp>
        <p:nvSpPr>
          <p:cNvPr id="14" name="Rounded Rectangle 13"/>
          <p:cNvSpPr/>
          <p:nvPr/>
        </p:nvSpPr>
        <p:spPr>
          <a:xfrm>
            <a:off x="8193023"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4192"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03</a:t>
            </a:r>
          </a:p>
        </p:txBody>
      </p:sp>
      <p:sp>
        <p:nvSpPr>
          <p:cNvPr id="16" name="TextBox 15"/>
          <p:cNvSpPr txBox="1"/>
          <p:nvPr/>
        </p:nvSpPr>
        <p:spPr>
          <a:xfrm>
            <a:off x="8394192"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An Tâm adds the safety buffer, goals and a joint shock.</a:t>
            </a:r>
          </a:p>
        </p:txBody>
      </p:sp>
      <p:sp>
        <p:nvSpPr>
          <p:cNvPr id="17" name="TextBox 16"/>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Working pitch · 29 September 2026 · The persona and amounts are illustrative, not user-research findings</a:t>
            </a:r>
          </a:p>
        </p:txBody>
      </p:sp>
      <p:sp>
        <p:nvSpPr>
          <p:cNvPr id="18" name="TextBox 17"/>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932688"/>
            <a:ext cx="10881360" cy="1335024"/>
          </a:xfrm>
          <a:prstGeom prst="rect">
            <a:avLst/>
          </a:prstGeom>
          <a:noFill/>
        </p:spPr>
        <p:txBody>
          <a:bodyPr wrap="square" lIns="0" rIns="0" tIns="0" bIns="0">
            <a:spAutoFit/>
          </a:bodyPr>
          <a:lstStyle/>
          <a:p>
            <a:pPr algn="l">
              <a:defRPr sz="2900" b="1">
                <a:solidFill>
                  <a:srgbClr val="172B4D"/>
                </a:solidFill>
                <a:latin typeface="Aptos"/>
              </a:defRPr>
            </a:pPr>
            <a:r>
              <a:t>Every option needs a decision receipt.</a:t>
            </a:r>
          </a:p>
        </p:txBody>
      </p:sp>
      <p:sp>
        <p:nvSpPr>
          <p:cNvPr id="5" name="TextBox 4"/>
          <p:cNvSpPr txBox="1"/>
          <p:nvPr/>
        </p:nvSpPr>
        <p:spPr>
          <a:xfrm>
            <a:off x="658368" y="2304288"/>
            <a:ext cx="10515600" cy="749808"/>
          </a:xfrm>
          <a:prstGeom prst="rect">
            <a:avLst/>
          </a:prstGeom>
          <a:noFill/>
        </p:spPr>
        <p:txBody>
          <a:bodyPr wrap="square" lIns="0" rIns="0" tIns="0" bIns="0">
            <a:spAutoFit/>
          </a:bodyPr>
          <a:lstStyle/>
          <a:p>
            <a:pPr algn="l">
              <a:defRPr sz="1700" b="0">
                <a:solidFill>
                  <a:srgbClr val="5D6B7D"/>
                </a:solidFill>
                <a:latin typeface="Aptos"/>
              </a:defRPr>
            </a:pPr>
            <a:r>
              <a:t>A vague warning becomes an actionable condition.</a:t>
            </a:r>
          </a:p>
        </p:txBody>
      </p:sp>
      <p:sp>
        <p:nvSpPr>
          <p:cNvPr id="6" name="Rounded Rectangle 5"/>
          <p:cNvSpPr/>
          <p:nvPr/>
        </p:nvSpPr>
        <p:spPr>
          <a:xfrm>
            <a:off x="640080"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01</a:t>
            </a:r>
          </a:p>
        </p:txBody>
      </p:sp>
      <p:sp>
        <p:nvSpPr>
          <p:cNvPr id="8" name="TextBox 7"/>
          <p:cNvSpPr txBox="1"/>
          <p:nvPr/>
        </p:nvSpPr>
        <p:spPr>
          <a:xfrm>
            <a:off x="841247"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‘Not yet’ → funding gap and preparation time.</a:t>
            </a:r>
          </a:p>
        </p:txBody>
      </p:sp>
      <p:sp>
        <p:nvSpPr>
          <p:cNvPr id="9" name="Rounded Rectangle 8"/>
          <p:cNvSpPr/>
          <p:nvPr/>
        </p:nvSpPr>
        <p:spPr>
          <a:xfrm>
            <a:off x="4416552"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02</a:t>
            </a:r>
          </a:p>
        </p:txBody>
      </p:sp>
      <p:sp>
        <p:nvSpPr>
          <p:cNvPr id="11" name="TextBox 10"/>
          <p:cNvSpPr txBox="1"/>
          <p:nvPr/>
        </p:nvSpPr>
        <p:spPr>
          <a:xfrm>
            <a:off x="4617720"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‘Possible with changes’ → protect reserves, reduce costs, add income or delay the start.</a:t>
            </a:r>
          </a:p>
        </p:txBody>
      </p:sp>
      <p:sp>
        <p:nvSpPr>
          <p:cNvPr id="12" name="Rounded Rectangle 11"/>
          <p:cNvSpPr/>
          <p:nvPr/>
        </p:nvSpPr>
        <p:spPr>
          <a:xfrm>
            <a:off x="8193023"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94192"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03</a:t>
            </a:r>
          </a:p>
        </p:txBody>
      </p:sp>
      <p:sp>
        <p:nvSpPr>
          <p:cNvPr id="14" name="TextBox 13"/>
          <p:cNvSpPr txBox="1"/>
          <p:nvPr/>
        </p:nvSpPr>
        <p:spPr>
          <a:xfrm>
            <a:off x="8394192"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Test each change against the same option.</a:t>
            </a:r>
          </a:p>
        </p:txBody>
      </p:sp>
      <p:sp>
        <p:nvSpPr>
          <p:cNvPr id="15" name="TextBox 14"/>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Working pitch · 29 September 2026 · The persona and amounts are illustrative, not user-research findings</a:t>
            </a:r>
          </a:p>
        </p:txBody>
      </p:sp>
      <p:sp>
        <p:nvSpPr>
          <p:cNvPr id="16" name="TextBox 15"/>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932688"/>
            <a:ext cx="10881360" cy="1335024"/>
          </a:xfrm>
          <a:prstGeom prst="rect">
            <a:avLst/>
          </a:prstGeom>
          <a:noFill/>
        </p:spPr>
        <p:txBody>
          <a:bodyPr wrap="square" lIns="0" rIns="0" tIns="0" bIns="0">
            <a:spAutoFit/>
          </a:bodyPr>
          <a:lstStyle/>
          <a:p>
            <a:pPr algn="l">
              <a:defRPr sz="2900" b="1">
                <a:solidFill>
                  <a:srgbClr val="172B4D"/>
                </a:solidFill>
                <a:latin typeface="Aptos"/>
              </a:defRPr>
            </a:pPr>
            <a:r>
              <a:t>The innovation: turn ‘not yet’ into a path people can test.</a:t>
            </a:r>
          </a:p>
        </p:txBody>
      </p:sp>
      <p:sp>
        <p:nvSpPr>
          <p:cNvPr id="5" name="TextBox 4"/>
          <p:cNvSpPr txBox="1"/>
          <p:nvPr/>
        </p:nvSpPr>
        <p:spPr>
          <a:xfrm>
            <a:off x="658368" y="2304288"/>
            <a:ext cx="10515600" cy="749808"/>
          </a:xfrm>
          <a:prstGeom prst="rect">
            <a:avLst/>
          </a:prstGeom>
          <a:noFill/>
        </p:spPr>
        <p:txBody>
          <a:bodyPr wrap="square" lIns="0" rIns="0" tIns="0" bIns="0">
            <a:spAutoFit/>
          </a:bodyPr>
          <a:lstStyle/>
          <a:p>
            <a:pPr algn="l">
              <a:defRPr sz="1700" b="0">
                <a:solidFill>
                  <a:srgbClr val="5D6B7D"/>
                </a:solidFill>
                <a:latin typeface="Aptos"/>
              </a:defRPr>
            </a:pPr>
            <a:r>
              <a:t>Three mechanisms work on the same decision.</a:t>
            </a:r>
          </a:p>
        </p:txBody>
      </p:sp>
      <p:sp>
        <p:nvSpPr>
          <p:cNvPr id="6" name="Rounded Rectangle 5"/>
          <p:cNvSpPr/>
          <p:nvPr/>
        </p:nvSpPr>
        <p:spPr>
          <a:xfrm>
            <a:off x="640080"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01</a:t>
            </a:r>
          </a:p>
        </p:txBody>
      </p:sp>
      <p:sp>
        <p:nvSpPr>
          <p:cNvPr id="8" name="TextBox 7"/>
          <p:cNvSpPr txBox="1"/>
          <p:nvPr/>
        </p:nvSpPr>
        <p:spPr>
          <a:xfrm>
            <a:off x="841247"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Work backward: how much money or preparation time is needed?</a:t>
            </a:r>
          </a:p>
        </p:txBody>
      </p:sp>
      <p:sp>
        <p:nvSpPr>
          <p:cNvPr id="9" name="Rounded Rectangle 8"/>
          <p:cNvSpPr/>
          <p:nvPr/>
        </p:nvSpPr>
        <p:spPr>
          <a:xfrm>
            <a:off x="4416552"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02</a:t>
            </a:r>
          </a:p>
        </p:txBody>
      </p:sp>
      <p:sp>
        <p:nvSpPr>
          <p:cNvPr id="11" name="TextBox 10"/>
          <p:cNvSpPr txBox="1"/>
          <p:nvPr/>
        </p:nvSpPr>
        <p:spPr>
          <a:xfrm>
            <a:off x="4617720"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Test a double shock: lost income while same-sector assets fall.</a:t>
            </a:r>
          </a:p>
        </p:txBody>
      </p:sp>
      <p:sp>
        <p:nvSpPr>
          <p:cNvPr id="12" name="Rounded Rectangle 11"/>
          <p:cNvSpPr/>
          <p:nvPr/>
        </p:nvSpPr>
        <p:spPr>
          <a:xfrm>
            <a:off x="8193023"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94192"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03</a:t>
            </a:r>
          </a:p>
        </p:txBody>
      </p:sp>
      <p:sp>
        <p:nvSpPr>
          <p:cNvPr id="14" name="TextBox 13"/>
          <p:cNvSpPr txBox="1"/>
          <p:nvPr/>
        </p:nvSpPr>
        <p:spPr>
          <a:xfrm>
            <a:off x="8394192"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Turn the condition into a task; every change waits for approval.</a:t>
            </a:r>
          </a:p>
        </p:txBody>
      </p:sp>
      <p:sp>
        <p:nvSpPr>
          <p:cNvPr id="15" name="TextBox 14"/>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Working pitch · 29 September 2026 · The persona and amounts are illustrative, not user-research findings</a:t>
            </a:r>
          </a:p>
        </p:txBody>
      </p:sp>
      <p:sp>
        <p:nvSpPr>
          <p:cNvPr id="16" name="TextBox 15"/>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932688"/>
            <a:ext cx="10881360" cy="1335024"/>
          </a:xfrm>
          <a:prstGeom prst="rect">
            <a:avLst/>
          </a:prstGeom>
          <a:noFill/>
        </p:spPr>
        <p:txBody>
          <a:bodyPr wrap="square" lIns="0" rIns="0" tIns="0" bIns="0">
            <a:spAutoFit/>
          </a:bodyPr>
          <a:lstStyle/>
          <a:p>
            <a:pPr algn="l">
              <a:defRPr sz="2900" b="1">
                <a:solidFill>
                  <a:srgbClr val="172B4D"/>
                </a:solidFill>
                <a:latin typeface="Aptos"/>
              </a:defRPr>
            </a:pPr>
            <a:r>
              <a:t>AI interprets. Code calculates. The person approves.</a:t>
            </a:r>
          </a:p>
        </p:txBody>
      </p:sp>
      <p:sp>
        <p:nvSpPr>
          <p:cNvPr id="5" name="TextBox 4"/>
          <p:cNvSpPr txBox="1"/>
          <p:nvPr/>
        </p:nvSpPr>
        <p:spPr>
          <a:xfrm>
            <a:off x="658368" y="2304288"/>
            <a:ext cx="10515600" cy="749808"/>
          </a:xfrm>
          <a:prstGeom prst="rect">
            <a:avLst/>
          </a:prstGeom>
          <a:noFill/>
        </p:spPr>
        <p:txBody>
          <a:bodyPr wrap="square" lIns="0" rIns="0" tIns="0" bIns="0">
            <a:spAutoFit/>
          </a:bodyPr>
          <a:lstStyle/>
          <a:p>
            <a:pPr algn="l">
              <a:defRPr sz="1700" b="0">
                <a:solidFill>
                  <a:srgbClr val="5D6B7D"/>
                </a:solidFill>
                <a:latin typeface="Aptos"/>
              </a:defRPr>
            </a:pPr>
            <a:r>
              <a:t>The user can see what AI understood, calculated and proposed.</a:t>
            </a:r>
          </a:p>
        </p:txBody>
      </p:sp>
      <p:sp>
        <p:nvSpPr>
          <p:cNvPr id="6" name="Rounded Rectangle 5"/>
          <p:cNvSpPr/>
          <p:nvPr/>
        </p:nvSpPr>
        <p:spPr>
          <a:xfrm>
            <a:off x="640080"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01</a:t>
            </a:r>
          </a:p>
        </p:txBody>
      </p:sp>
      <p:sp>
        <p:nvSpPr>
          <p:cNvPr id="8" name="TextBox 7"/>
          <p:cNvSpPr txBox="1"/>
          <p:nvPr/>
        </p:nvSpPr>
        <p:spPr>
          <a:xfrm>
            <a:off x="841247"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Understand ‘I want to leave work to study’ and select the right calculation.</a:t>
            </a:r>
          </a:p>
        </p:txBody>
      </p:sp>
      <p:sp>
        <p:nvSpPr>
          <p:cNvPr id="9" name="Rounded Rectangle 8"/>
          <p:cNvSpPr/>
          <p:nvPr/>
        </p:nvSpPr>
        <p:spPr>
          <a:xfrm>
            <a:off x="4416552"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02</a:t>
            </a:r>
          </a:p>
        </p:txBody>
      </p:sp>
      <p:sp>
        <p:nvSpPr>
          <p:cNvPr id="11" name="TextBox 10"/>
          <p:cNvSpPr txBox="1"/>
          <p:nvPr/>
        </p:nvSpPr>
        <p:spPr>
          <a:xfrm>
            <a:off x="4617720"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The engine returns a result and assumptions; AI explains them plainly.</a:t>
            </a:r>
          </a:p>
        </p:txBody>
      </p:sp>
      <p:sp>
        <p:nvSpPr>
          <p:cNvPr id="12" name="Rounded Rectangle 11"/>
          <p:cNvSpPr/>
          <p:nvPr/>
        </p:nvSpPr>
        <p:spPr>
          <a:xfrm>
            <a:off x="8193023"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94192"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03</a:t>
            </a:r>
          </a:p>
        </p:txBody>
      </p:sp>
      <p:sp>
        <p:nvSpPr>
          <p:cNvPr id="14" name="TextBox 13"/>
          <p:cNvSpPr txBox="1"/>
          <p:nvPr/>
        </p:nvSpPr>
        <p:spPr>
          <a:xfrm>
            <a:off x="8394192"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Create a proposal; the user previews, approves or rejects it.</a:t>
            </a:r>
          </a:p>
        </p:txBody>
      </p:sp>
      <p:sp>
        <p:nvSpPr>
          <p:cNvPr id="15" name="TextBox 14"/>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Working pitch · 29 September 2026 · The persona and amounts are illustrative, not user-research findings</a:t>
            </a:r>
          </a:p>
        </p:txBody>
      </p:sp>
      <p:sp>
        <p:nvSpPr>
          <p:cNvPr id="16" name="TextBox 15"/>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932688"/>
            <a:ext cx="10881360" cy="1335024"/>
          </a:xfrm>
          <a:prstGeom prst="rect">
            <a:avLst/>
          </a:prstGeom>
          <a:noFill/>
        </p:spPr>
        <p:txBody>
          <a:bodyPr wrap="square" lIns="0" rIns="0" tIns="0" bIns="0">
            <a:spAutoFit/>
          </a:bodyPr>
          <a:lstStyle/>
          <a:p>
            <a:pPr algn="l">
              <a:defRPr sz="2900" b="1">
                <a:solidFill>
                  <a:srgbClr val="172B4D"/>
                </a:solidFill>
                <a:latin typeface="Aptos"/>
              </a:defRPr>
            </a:pPr>
            <a:r>
              <a:t>The engine and approval flow already exist.</a:t>
            </a:r>
          </a:p>
        </p:txBody>
      </p:sp>
      <p:sp>
        <p:nvSpPr>
          <p:cNvPr id="5" name="TextBox 4"/>
          <p:cNvSpPr txBox="1"/>
          <p:nvPr/>
        </p:nvSpPr>
        <p:spPr>
          <a:xfrm>
            <a:off x="658368" y="2304288"/>
            <a:ext cx="10515600" cy="749808"/>
          </a:xfrm>
          <a:prstGeom prst="rect">
            <a:avLst/>
          </a:prstGeom>
          <a:noFill/>
        </p:spPr>
        <p:txBody>
          <a:bodyPr wrap="square" lIns="0" rIns="0" tIns="0" bIns="0">
            <a:spAutoFit/>
          </a:bodyPr>
          <a:lstStyle/>
          <a:p>
            <a:pPr algn="l">
              <a:defRPr sz="1700" b="0">
                <a:solidFill>
                  <a:srgbClr val="5D6B7D"/>
                </a:solidFill>
                <a:latin typeface="Aptos"/>
              </a:defRPr>
            </a:pPr>
            <a:r>
              <a:t>The strongest proof is a path from question to an inspectable outcome.</a:t>
            </a:r>
          </a:p>
        </p:txBody>
      </p:sp>
      <p:sp>
        <p:nvSpPr>
          <p:cNvPr id="6" name="Rectangle 5"/>
          <p:cNvSpPr/>
          <p:nvPr/>
        </p:nvSpPr>
        <p:spPr>
          <a:xfrm>
            <a:off x="667512" y="3383279"/>
            <a:ext cx="91440" cy="914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64408"/>
            <a:ext cx="10332720" cy="685800"/>
          </a:xfrm>
          <a:prstGeom prst="rect">
            <a:avLst/>
          </a:prstGeom>
          <a:noFill/>
        </p:spPr>
        <p:txBody>
          <a:bodyPr wrap="square" lIns="0" rIns="0" tIns="0" bIns="0">
            <a:spAutoFit/>
          </a:bodyPr>
          <a:lstStyle/>
          <a:p>
            <a:pPr algn="l">
              <a:defRPr sz="1900" b="0">
                <a:solidFill>
                  <a:srgbClr val="17253A"/>
                </a:solidFill>
                <a:latin typeface="Aptos"/>
              </a:defRPr>
            </a:pPr>
            <a:r>
              <a:t>Decision, earning-power and sector-overlap calculations are built.</a:t>
            </a:r>
          </a:p>
        </p:txBody>
      </p:sp>
      <p:sp>
        <p:nvSpPr>
          <p:cNvPr id="8" name="Rectangle 7"/>
          <p:cNvSpPr/>
          <p:nvPr/>
        </p:nvSpPr>
        <p:spPr>
          <a:xfrm>
            <a:off x="667512" y="4187952"/>
            <a:ext cx="91440" cy="914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69080"/>
            <a:ext cx="10332720" cy="685800"/>
          </a:xfrm>
          <a:prstGeom prst="rect">
            <a:avLst/>
          </a:prstGeom>
          <a:noFill/>
        </p:spPr>
        <p:txBody>
          <a:bodyPr wrap="square" lIns="0" rIns="0" tIns="0" bIns="0">
            <a:spAutoFit/>
          </a:bodyPr>
          <a:lstStyle/>
          <a:p>
            <a:pPr algn="l">
              <a:defRPr sz="1900" b="0">
                <a:solidFill>
                  <a:srgbClr val="17253A"/>
                </a:solidFill>
                <a:latin typeface="Aptos"/>
              </a:defRPr>
            </a:pPr>
            <a:r>
              <a:t>The interface, AI history and approval step are built.</a:t>
            </a:r>
          </a:p>
        </p:txBody>
      </p:sp>
      <p:sp>
        <p:nvSpPr>
          <p:cNvPr id="10" name="Rectangle 9"/>
          <p:cNvSpPr/>
          <p:nvPr/>
        </p:nvSpPr>
        <p:spPr>
          <a:xfrm>
            <a:off x="667512" y="4992624"/>
            <a:ext cx="91440" cy="914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873752"/>
            <a:ext cx="10332720" cy="685800"/>
          </a:xfrm>
          <a:prstGeom prst="rect">
            <a:avLst/>
          </a:prstGeom>
          <a:noFill/>
        </p:spPr>
        <p:txBody>
          <a:bodyPr wrap="square" lIns="0" rIns="0" tIns="0" bIns="0">
            <a:spAutoFit/>
          </a:bodyPr>
          <a:lstStyle/>
          <a:p>
            <a:pPr algn="l">
              <a:defRPr sz="1900" b="0">
                <a:solidFill>
                  <a:srgbClr val="17253A"/>
                </a:solidFill>
                <a:latin typeface="Aptos"/>
              </a:defRPr>
            </a:pPr>
            <a:r>
              <a:t>Demo data, AI configuration and the full journey still need checks.</a:t>
            </a:r>
          </a:p>
        </p:txBody>
      </p:sp>
      <p:sp>
        <p:nvSpPr>
          <p:cNvPr id="12" name="TextBox 11"/>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Working pitch · 29 September 2026 · The persona and amounts are illustrative, not user-research findings</a:t>
            </a:r>
          </a:p>
        </p:txBody>
      </p:sp>
      <p:sp>
        <p:nvSpPr>
          <p:cNvPr id="13" name="TextBox 12"/>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932688"/>
            <a:ext cx="10881360" cy="1335024"/>
          </a:xfrm>
          <a:prstGeom prst="rect">
            <a:avLst/>
          </a:prstGeom>
          <a:noFill/>
        </p:spPr>
        <p:txBody>
          <a:bodyPr wrap="square" lIns="0" rIns="0" tIns="0" bIns="0">
            <a:spAutoFit/>
          </a:bodyPr>
          <a:lstStyle/>
          <a:p>
            <a:pPr algn="l">
              <a:defRPr sz="2900" b="1">
                <a:solidFill>
                  <a:srgbClr val="172B4D"/>
                </a:solidFill>
                <a:latin typeface="Aptos"/>
              </a:defRPr>
            </a:pPr>
            <a:r>
              <a:t>Two revenue hypotheses: Plus and partner integration.</a:t>
            </a:r>
          </a:p>
        </p:txBody>
      </p:sp>
      <p:sp>
        <p:nvSpPr>
          <p:cNvPr id="5" name="TextBox 4"/>
          <p:cNvSpPr txBox="1"/>
          <p:nvPr/>
        </p:nvSpPr>
        <p:spPr>
          <a:xfrm>
            <a:off x="658368" y="2304288"/>
            <a:ext cx="10515600" cy="749808"/>
          </a:xfrm>
          <a:prstGeom prst="rect">
            <a:avLst/>
          </a:prstGeom>
          <a:noFill/>
        </p:spPr>
        <p:txBody>
          <a:bodyPr wrap="square" lIns="0" rIns="0" tIns="0" bIns="0">
            <a:spAutoFit/>
          </a:bodyPr>
          <a:lstStyle/>
          <a:p>
            <a:pPr algn="l">
              <a:defRPr sz="1700" b="0">
                <a:solidFill>
                  <a:srgbClr val="5D6B7D"/>
                </a:solidFill>
                <a:latin typeface="Aptos"/>
              </a:defRPr>
            </a:pPr>
            <a:r>
              <a:t>Learn demand directly first; expand through partners only after outcomes are proven.</a:t>
            </a:r>
          </a:p>
        </p:txBody>
      </p:sp>
      <p:sp>
        <p:nvSpPr>
          <p:cNvPr id="6" name="Rounded Rectangle 5"/>
          <p:cNvSpPr/>
          <p:nvPr/>
        </p:nvSpPr>
        <p:spPr>
          <a:xfrm>
            <a:off x="640080"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01</a:t>
            </a:r>
          </a:p>
        </p:txBody>
      </p:sp>
      <p:sp>
        <p:nvSpPr>
          <p:cNvPr id="8" name="TextBox 7"/>
          <p:cNvSpPr txBox="1"/>
          <p:nvPr/>
        </p:nvSpPr>
        <p:spPr>
          <a:xfrm>
            <a:off x="841247"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Free invites trial; Plus is configured at VND 49,000/month, with demand untested.</a:t>
            </a:r>
          </a:p>
        </p:txBody>
      </p:sp>
      <p:sp>
        <p:nvSpPr>
          <p:cNvPr id="9" name="Rounded Rectangle 8"/>
          <p:cNvSpPr/>
          <p:nvPr/>
        </p:nvSpPr>
        <p:spPr>
          <a:xfrm>
            <a:off x="4416552"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02</a:t>
            </a:r>
          </a:p>
        </p:txBody>
      </p:sp>
      <p:sp>
        <p:nvSpPr>
          <p:cNvPr id="11" name="TextBox 10"/>
          <p:cNvSpPr txBox="1"/>
          <p:nvPr/>
        </p:nvSpPr>
        <p:spPr>
          <a:xfrm>
            <a:off x="4617720"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Bank/fintech pilot: planning inside their app; integration and usage fees are hypotheses.</a:t>
            </a:r>
          </a:p>
        </p:txBody>
      </p:sp>
      <p:sp>
        <p:nvSpPr>
          <p:cNvPr id="12" name="Rounded Rectangle 11"/>
          <p:cNvSpPr/>
          <p:nvPr/>
        </p:nvSpPr>
        <p:spPr>
          <a:xfrm>
            <a:off x="8193023"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94192"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03</a:t>
            </a:r>
          </a:p>
        </p:txBody>
      </p:sp>
      <p:sp>
        <p:nvSpPr>
          <p:cNvPr id="14" name="TextBox 13"/>
          <p:cNvSpPr txBox="1"/>
          <p:nvPr/>
        </p:nvSpPr>
        <p:spPr>
          <a:xfrm>
            <a:off x="8394192"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Test contribution: VND 49,000 minus AI, cloud, payment and support per paid user.</a:t>
            </a:r>
          </a:p>
        </p:txBody>
      </p:sp>
      <p:sp>
        <p:nvSpPr>
          <p:cNvPr id="15" name="TextBox 14"/>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Working pitch · 29 September 2026 · The persona and amounts are illustrative, not user-research findings</a:t>
            </a:r>
          </a:p>
        </p:txBody>
      </p:sp>
      <p:sp>
        <p:nvSpPr>
          <p:cNvPr id="16" name="TextBox 15"/>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932688"/>
            <a:ext cx="10881360" cy="1335024"/>
          </a:xfrm>
          <a:prstGeom prst="rect">
            <a:avLst/>
          </a:prstGeom>
          <a:noFill/>
        </p:spPr>
        <p:txBody>
          <a:bodyPr wrap="square" lIns="0" rIns="0" tIns="0" bIns="0">
            <a:spAutoFit/>
          </a:bodyPr>
          <a:lstStyle/>
          <a:p>
            <a:pPr algn="l">
              <a:defRPr sz="2900" b="1">
                <a:solidFill>
                  <a:srgbClr val="172B4D"/>
                </a:solidFill>
                <a:latin typeface="Aptos"/>
              </a:defRPr>
            </a:pPr>
            <a:r>
              <a:t>We win when users can decide — and explain why.</a:t>
            </a:r>
          </a:p>
        </p:txBody>
      </p:sp>
      <p:sp>
        <p:nvSpPr>
          <p:cNvPr id="5" name="TextBox 4"/>
          <p:cNvSpPr txBox="1"/>
          <p:nvPr/>
        </p:nvSpPr>
        <p:spPr>
          <a:xfrm>
            <a:off x="658368" y="2304288"/>
            <a:ext cx="10515600" cy="749808"/>
          </a:xfrm>
          <a:prstGeom prst="rect">
            <a:avLst/>
          </a:prstGeom>
          <a:noFill/>
        </p:spPr>
        <p:txBody>
          <a:bodyPr wrap="square" lIns="0" rIns="0" tIns="0" bIns="0">
            <a:spAutoFit/>
          </a:bodyPr>
          <a:lstStyle/>
          <a:p>
            <a:pPr algn="l">
              <a:defRPr sz="1700" b="0">
                <a:solidFill>
                  <a:srgbClr val="5D6B7D"/>
                </a:solidFill>
                <a:latin typeface="Aptos"/>
              </a:defRPr>
            </a:pPr>
            <a:r>
              <a:t>Validation before a commercial promise.</a:t>
            </a:r>
          </a:p>
        </p:txBody>
      </p:sp>
      <p:sp>
        <p:nvSpPr>
          <p:cNvPr id="6" name="Rectangle 5"/>
          <p:cNvSpPr/>
          <p:nvPr/>
        </p:nvSpPr>
        <p:spPr>
          <a:xfrm>
            <a:off x="667512" y="3383279"/>
            <a:ext cx="91440" cy="914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64408"/>
            <a:ext cx="10332720" cy="685800"/>
          </a:xfrm>
          <a:prstGeom prst="rect">
            <a:avLst/>
          </a:prstGeom>
          <a:noFill/>
        </p:spPr>
        <p:txBody>
          <a:bodyPr wrap="square" lIns="0" rIns="0" tIns="0" bIns="0">
            <a:spAutoFit/>
          </a:bodyPr>
          <a:lstStyle/>
          <a:p>
            <a:pPr algn="l">
              <a:defRPr sz="1900" b="0">
                <a:solidFill>
                  <a:srgbClr val="17253A"/>
                </a:solidFill>
                <a:latin typeface="Aptos"/>
              </a:defRPr>
            </a:pPr>
            <a:r>
              <a:t>Interview people facing study, career-change or family-care decisions.</a:t>
            </a:r>
          </a:p>
        </p:txBody>
      </p:sp>
      <p:sp>
        <p:nvSpPr>
          <p:cNvPr id="8" name="Rectangle 7"/>
          <p:cNvSpPr/>
          <p:nvPr/>
        </p:nvSpPr>
        <p:spPr>
          <a:xfrm>
            <a:off x="667512" y="4187952"/>
            <a:ext cx="91440" cy="914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69080"/>
            <a:ext cx="10332720" cy="685800"/>
          </a:xfrm>
          <a:prstGeom prst="rect">
            <a:avLst/>
          </a:prstGeom>
          <a:noFill/>
        </p:spPr>
        <p:txBody>
          <a:bodyPr wrap="square" lIns="0" rIns="0" tIns="0" bIns="0">
            <a:spAutoFit/>
          </a:bodyPr>
          <a:lstStyle/>
          <a:p>
            <a:pPr algn="l">
              <a:defRPr sz="1900" b="0">
                <a:solidFill>
                  <a:srgbClr val="17253A"/>
                </a:solidFill>
                <a:latin typeface="Aptos"/>
              </a:defRPr>
            </a:pPr>
            <a:r>
              <a:t>Let them compare two paths; test understanding, decision and next action.</a:t>
            </a:r>
          </a:p>
        </p:txBody>
      </p:sp>
      <p:sp>
        <p:nvSpPr>
          <p:cNvPr id="10" name="Rectangle 9"/>
          <p:cNvSpPr/>
          <p:nvPr/>
        </p:nvSpPr>
        <p:spPr>
          <a:xfrm>
            <a:off x="667512" y="4992624"/>
            <a:ext cx="91440" cy="914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873752"/>
            <a:ext cx="10332720" cy="685800"/>
          </a:xfrm>
          <a:prstGeom prst="rect">
            <a:avLst/>
          </a:prstGeom>
          <a:noFill/>
        </p:spPr>
        <p:txBody>
          <a:bodyPr wrap="square" lIns="0" rIns="0" tIns="0" bIns="0">
            <a:spAutoFit/>
          </a:bodyPr>
          <a:lstStyle/>
          <a:p>
            <a:pPr algn="l">
              <a:defRPr sz="1900" b="0">
                <a:solidFill>
                  <a:srgbClr val="17253A"/>
                </a:solidFill>
                <a:latin typeface="Aptos"/>
              </a:defRPr>
            </a:pPr>
            <a:r>
              <a:t>Pilot with a partner after the demo, data rights and session cost are verified.</a:t>
            </a:r>
          </a:p>
        </p:txBody>
      </p:sp>
      <p:sp>
        <p:nvSpPr>
          <p:cNvPr id="12" name="TextBox 11"/>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Working pitch · 29 September 2026 · The persona and amounts are illustrative, not user-research findings</a:t>
            </a:r>
          </a:p>
        </p:txBody>
      </p:sp>
      <p:sp>
        <p:nvSpPr>
          <p:cNvPr id="13" name="TextBox 12"/>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